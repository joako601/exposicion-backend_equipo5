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30 segundos.
Presentar al equipo y la tecnología. MongoDB es una base de datos NoSQL que guarda documentos en lugar de filas. La pregunta que guía la exposición: qué pasa cuando los datos de la API no tienen la forma de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45 segundos.
Recorrer los ocho apartados en voz alta, sin detenerse. Avisar que el ejemplo usa una API pequeña parecida a la del curso y que al final hay espacio para la pregunta de cada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Ejemplo tomado de la guía de modelado de MongoDB: una tienda con productos que tienen atributos distintos. En MySQL hay que decidir las columnas antes de insertar, así que la playera, la lámpara y el libro comparten columnas que no usan y quedan en NULL. En MongoDB cada producto es un documento con sus propios campos, y aun así los tres viven en la misma colección. Ese es el problema que resuelve: guardar datos cuya forma cambia entre registros o con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La documentación de modelado de MongoDB plantea como principio central que los datos que se consultan juntos se guarden juntos, y que el modelo se diseñe según cómo la aplicación lee los datos. Hay dos formas de relacionar: embeber, por ejemplo el departamento dentro del empleado para traerlo en una sola consulta; o referenciar, por ejemplo guardar todas las reseñas en otra colección y dejar en el producto solo las cinco más recientes que muestra la página. La cita es una traducción nuestra de la guía en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Recorrer de izquierda a derecha. El cliente es nuestra API. El driver es la librería oficial, en Node.js el paquete mongodb, que según la guía de inicio sirve para conectarse y comunicarse con MongoDB. La configuración es la cadena de conexión: incluye host, mecanismo de autenticación, usuario y contraseña, por eso va en un .env y no en el código. Atlas es el servicio administrado que aloja el servidor. Dentro hay bases, cada base tiene colecciones y cada colección guarda documentos.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Pasos de la guía Get Started with the Node.js Driver. Uno: crear una cuenta y un cluster gratuito en Atlas. Dos: crear el usuario de base de datos y guardar usuario y contraseña en un lugar seguro. Tres: en Clusters, botón Connect, opción Drivers, elegir Node.js y copiar la cadena; reemplazar &lt;db_password&gt; por la contraseña real. Cuatro: npm install mongodb dentro del proyecto; la guía pide Node.js 16.20.1 o superior. Cinco: crear el MongoClient con la cadena y hacer operaciones. El curso de MongoDB University agrega cómo reutilizar el cliente y cómo diagnosticar errores de conexión y de autenticación.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2 minutos (o 3 minutos si se hace la demo en lugar de explicar el código).
Es una ruta de una API como la del curso. El cliente se crea una sola vez con la cadena que viene del .env, se elige la base tienda y la colección productos. Cuando llega GET /productos/PLY-01, findOne busca el documento cuyo sku coincide y la API lo devuelve tal cual como JSON; si no existe responde 404. El documento ya tiene la forma que la API envía, no hay que armar el objeto a partir de varias tablas. Demo opcional: correr la API conectada a Atlas, hacer la petición y mostrar el mismo documento en la interfaz de Atlas.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MySQL es la comparación principal: la tabla de diferencias de la guía de modelado dice que en relacional el esquema se define antes de insertar y que muchas veces hay que unir varias tablas; en MongoDB el modelo puede cambiar con la aplicación y embeber evita esos JOIN. Docker no compite con MongoDB: uno ejecuta procesos, el otro guarda datos, y de hecho se puede levantar MongoDB en un contenedor. Con GraphQL, el esquema GraphQL sigue siendo el contrato y el resolver es quien llama a la colección. Con el token: el token protege la API, pero la base tiene su propia autenticación, el usuario que se creó en Atlas y que va en la cadena de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30 segundos.
Ganancias: el esquema flexible permite mejorar el modelo mientras se desarrolla y mapearlo directo a los objetos del código; embeber evita JOIN complejos; Atlas quita la tarea de administrar el servidor. Costos: el modelo hay que diseñarlo pensando en los patrones de acceso, y la guía recomienda planear el esquema antes de llegar a producción. El plan gratuito M0, según la página de precios de MongoDB, tiene 512 MB de almacenamiento, hasta 100 operaciones por segundo y no incluye respaldos: sirve para aprender y para el proyecto del curso, no para producción. Y la validación de esquema existe, pero es opcional, así que la consistencia depende de que el equipo la configure.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1 minuto.
Arriba lo que aprovecha el modelo de documentos, los mismos casos de la guía de modelado. Abajo, cuando conviene quedarse en MySQL: si el sistema depende de muchas relaciones entre muchas tablas, si los datos tienen que cumplir siempre una estructura estricta, o si las transacciones entre muchos documentos son el centro del sistema. MongoDB sí soporta transacciones de varios documentos, pero su modelo está pensado para que la mayoría de operaciones toquen un solo documento; si el sistema vive de lo contrario, un relacional encaja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30 segundos.
Nombrar las tres fuentes y qué tomamos de cada una. Mencionar que el dato del plan gratuito viene de la página de precios de MongoDB, consultada el 21 de octubre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Duración: 30 segundos más preguntas.
Cerrar con la idea central: MongoDB conviene cuando los datos se guardan con la forma en que la API los lee. Abrir espacio para la pregunta de cada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mongodb.com/docs/drivers/node/current/get-started/" TargetMode="External"/><Relationship Id="rId4" Type="http://schemas.openxmlformats.org/officeDocument/2006/relationships/hyperlink" Target="https://www.mongodb.com/docs/manual/data-modeling/" TargetMode="External"/><Relationship Id="rId6" Type="http://schemas.openxmlformats.org/officeDocument/2006/relationships/hyperlink" Target="https://learn.mongodb.com/courses/connecting-to-mongodb-in-nodejs"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2B"/>
        </a:solidFill>
      </p:bgPr>
    </p:bg>
    <p:spTree>
      <p:nvGrpSpPr>
        <p:cNvPr id="1" name=""/>
        <p:cNvGrpSpPr/>
        <p:nvPr/>
      </p:nvGrpSpPr>
      <p:grpSpPr>
        <a:xfrm>
          <a:off x="0" y="0"/>
          <a:ext cx="0" cy="0"/>
          <a:chOff x="0" y="0"/>
          <a:chExt cx="0" cy="0"/>
        </a:xfrm>
      </p:grpSpPr>
      <p:pic>
        <p:nvPicPr>
          <p:cNvPr id="2" name="Image 0" descr="brace_dark.png">    </p:cNvPr>
          <p:cNvPicPr>
            <a:picLocks noChangeAspect="1"/>
          </p:cNvPicPr>
          <p:nvPr/>
        </p:nvPicPr>
        <p:blipFill>
          <a:blip r:embed="rId1"/>
          <a:stretch>
            <a:fillRect/>
          </a:stretch>
        </p:blipFill>
        <p:spPr>
          <a:xfrm>
            <a:off x="1293876" y="502920"/>
            <a:ext cx="9601200" cy="5280660"/>
          </a:xfrm>
          <a:prstGeom prst="rect">
            <a:avLst/>
          </a:prstGeom>
        </p:spPr>
      </p:pic>
      <p:sp>
        <p:nvSpPr>
          <p:cNvPr id="3" name="Text 0"/>
          <p:cNvSpPr/>
          <p:nvPr/>
        </p:nvSpPr>
        <p:spPr>
          <a:xfrm>
            <a:off x="0" y="1417320"/>
            <a:ext cx="12188952" cy="1600200"/>
          </a:xfrm>
          <a:prstGeom prst="rect">
            <a:avLst/>
          </a:prstGeom>
          <a:noFill/>
          <a:ln/>
        </p:spPr>
        <p:txBody>
          <a:bodyPr wrap="square" lIns="0" tIns="0" rIns="0" bIns="0" rtlCol="0" anchor="ctr"/>
          <a:lstStyle/>
          <a:p>
            <a:pPr algn="ctr" indent="0" marL="0">
              <a:buNone/>
            </a:pPr>
            <a:r>
              <a:rPr lang="en-US" sz="11200" b="1" dirty="0">
                <a:solidFill>
                  <a:srgbClr val="FFFFFF"/>
                </a:solidFill>
                <a:latin typeface="Arial Narrow" pitchFamily="34" charset="0"/>
                <a:ea typeface="Arial Narrow" pitchFamily="34" charset="-122"/>
                <a:cs typeface="Arial Narrow" pitchFamily="34" charset="-120"/>
              </a:rPr>
              <a:t>MONGODB</a:t>
            </a:r>
            <a:endParaRPr lang="en-US" sz="11200" dirty="0"/>
          </a:p>
        </p:txBody>
      </p:sp>
      <p:sp>
        <p:nvSpPr>
          <p:cNvPr id="4" name="Shape 1"/>
          <p:cNvSpPr/>
          <p:nvPr/>
        </p:nvSpPr>
        <p:spPr>
          <a:xfrm>
            <a:off x="5820156" y="3200400"/>
            <a:ext cx="548640" cy="54864"/>
          </a:xfrm>
          <a:prstGeom prst="rect">
            <a:avLst/>
          </a:prstGeom>
          <a:solidFill>
            <a:srgbClr val="00ED64"/>
          </a:solidFill>
          <a:ln/>
        </p:spPr>
      </p:sp>
      <p:sp>
        <p:nvSpPr>
          <p:cNvPr id="5" name="Text 2"/>
          <p:cNvSpPr/>
          <p:nvPr/>
        </p:nvSpPr>
        <p:spPr>
          <a:xfrm>
            <a:off x="0" y="3474720"/>
            <a:ext cx="12188952" cy="502920"/>
          </a:xfrm>
          <a:prstGeom prst="rect">
            <a:avLst/>
          </a:prstGeom>
          <a:noFill/>
          <a:ln/>
        </p:spPr>
        <p:txBody>
          <a:bodyPr wrap="square" lIns="0" tIns="0" rIns="0" bIns="0" rtlCol="0" anchor="t"/>
          <a:lstStyle/>
          <a:p>
            <a:pPr algn="ctr" indent="0" marL="0">
              <a:buNone/>
            </a:pPr>
            <a:r>
              <a:rPr lang="en-US" sz="3000" dirty="0">
                <a:solidFill>
                  <a:srgbClr val="FFFFFF"/>
                </a:solidFill>
                <a:latin typeface="Calibri" pitchFamily="34" charset="0"/>
                <a:ea typeface="Calibri" pitchFamily="34" charset="-122"/>
                <a:cs typeface="Calibri" pitchFamily="34" charset="-120"/>
              </a:rPr>
              <a:t>Base de datos NoSQL orientada a documentos</a:t>
            </a:r>
            <a:endParaRPr lang="en-US" sz="3000" dirty="0"/>
          </a:p>
        </p:txBody>
      </p:sp>
      <p:sp>
        <p:nvSpPr>
          <p:cNvPr id="6" name="Text 3"/>
          <p:cNvSpPr/>
          <p:nvPr/>
        </p:nvSpPr>
        <p:spPr>
          <a:xfrm>
            <a:off x="0" y="4041648"/>
            <a:ext cx="12188952" cy="411480"/>
          </a:xfrm>
          <a:prstGeom prst="rect">
            <a:avLst/>
          </a:prstGeom>
          <a:noFill/>
          <a:ln/>
        </p:spPr>
        <p:txBody>
          <a:bodyPr wrap="square" lIns="0" tIns="0" rIns="0" bIns="0" rtlCol="0" anchor="t"/>
          <a:lstStyle/>
          <a:p>
            <a:pPr algn="ctr" indent="0" marL="0">
              <a:buNone/>
            </a:pPr>
            <a:r>
              <a:rPr lang="en-US" sz="2000" dirty="0">
                <a:solidFill>
                  <a:srgbClr val="B8D4CC"/>
                </a:solidFill>
                <a:latin typeface="Calibri" pitchFamily="34" charset="0"/>
                <a:ea typeface="Calibri" pitchFamily="34" charset="-122"/>
                <a:cs typeface="Calibri" pitchFamily="34" charset="-120"/>
              </a:rPr>
              <a:t>Guardar documentos cuando las filas de MySQL no son la forma natural de los datos</a:t>
            </a:r>
            <a:endParaRPr lang="en-US" sz="2000" dirty="0"/>
          </a:p>
        </p:txBody>
      </p:sp>
      <p:sp>
        <p:nvSpPr>
          <p:cNvPr id="7" name="Text 4"/>
          <p:cNvSpPr/>
          <p:nvPr/>
        </p:nvSpPr>
        <p:spPr>
          <a:xfrm>
            <a:off x="0" y="5074920"/>
            <a:ext cx="12188952" cy="365760"/>
          </a:xfrm>
          <a:prstGeom prst="rect">
            <a:avLst/>
          </a:prstGeom>
          <a:noFill/>
          <a:ln/>
        </p:spPr>
        <p:txBody>
          <a:bodyPr wrap="square" lIns="0" tIns="0" rIns="0" bIns="0" rtlCol="0" anchor="t"/>
          <a:lstStyle/>
          <a:p>
            <a:pPr algn="ctr" indent="0" marL="0">
              <a:buNone/>
            </a:pPr>
            <a:r>
              <a:rPr lang="en-US" sz="2000" b="1" dirty="0">
                <a:solidFill>
                  <a:srgbClr val="FFFFFF"/>
                </a:solidFill>
                <a:latin typeface="Arial Narrow" pitchFamily="34" charset="0"/>
                <a:ea typeface="Arial Narrow" pitchFamily="34" charset="-122"/>
                <a:cs typeface="Arial Narrow" pitchFamily="34" charset="-120"/>
              </a:rPr>
              <a:t>EQUIPO 5</a:t>
            </a:r>
            <a:endParaRPr lang="en-US" sz="2000" dirty="0"/>
          </a:p>
        </p:txBody>
      </p:sp>
      <p:sp>
        <p:nvSpPr>
          <p:cNvPr id="8" name="Text 5"/>
          <p:cNvSpPr/>
          <p:nvPr/>
        </p:nvSpPr>
        <p:spPr>
          <a:xfrm>
            <a:off x="0" y="5468112"/>
            <a:ext cx="12188952" cy="320040"/>
          </a:xfrm>
          <a:prstGeom prst="rect">
            <a:avLst/>
          </a:prstGeom>
          <a:noFill/>
          <a:ln/>
        </p:spPr>
        <p:txBody>
          <a:bodyPr wrap="square" lIns="0" tIns="0" rIns="0" bIns="0" rtlCol="0" anchor="t"/>
          <a:lstStyle/>
          <a:p>
            <a:pPr algn="ctr" indent="0" marL="0">
              <a:buNone/>
            </a:pPr>
            <a:r>
              <a:rPr lang="en-US" sz="1600" dirty="0">
                <a:solidFill>
                  <a:srgbClr val="B8D4CC"/>
                </a:solidFill>
                <a:latin typeface="Calibri" pitchFamily="34" charset="0"/>
                <a:ea typeface="Calibri" pitchFamily="34" charset="-122"/>
                <a:cs typeface="Calibri" pitchFamily="34" charset="-120"/>
              </a:rPr>
              <a:t>Ariff Iazid Medina Gómez  ·  Joaquin Uriona  ·  Jesus Fernando Castro Hernandez  ·  Mateo Emanuel Martin Tec</a:t>
            </a:r>
            <a:endParaRPr lang="en-US" sz="1600" dirty="0"/>
          </a:p>
        </p:txBody>
      </p:sp>
      <p:sp>
        <p:nvSpPr>
          <p:cNvPr id="9" name="Text 6"/>
          <p:cNvSpPr/>
          <p:nvPr/>
        </p:nvSpPr>
        <p:spPr>
          <a:xfrm>
            <a:off x="0" y="5870448"/>
            <a:ext cx="12188952" cy="292608"/>
          </a:xfrm>
          <a:prstGeom prst="rect">
            <a:avLst/>
          </a:prstGeom>
          <a:noFill/>
          <a:ln/>
        </p:spPr>
        <p:txBody>
          <a:bodyPr wrap="square" lIns="0" tIns="0" rIns="0" bIns="0" rtlCol="0" anchor="t"/>
          <a:lstStyle/>
          <a:p>
            <a:pPr algn="ctr" indent="0" marL="0">
              <a:buNone/>
            </a:pPr>
            <a:r>
              <a:rPr lang="en-US" sz="1400" dirty="0">
                <a:solidFill>
                  <a:srgbClr val="7FA39A"/>
                </a:solidFill>
                <a:latin typeface="Calibri" pitchFamily="34" charset="0"/>
                <a:ea typeface="Calibri" pitchFamily="34" charset="-122"/>
                <a:cs typeface="Calibri" pitchFamily="34" charset="-120"/>
              </a:rPr>
              <a:t>Fundamentos de Arquitectura de Software y Desarrollo Backend  ·  Unidad II  ·  Tecnológico de Software  ·  26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ORDEN DE LA EXPOSICIÓN</a:t>
            </a:r>
            <a:endParaRPr lang="en-US" sz="3600" dirty="0"/>
          </a:p>
        </p:txBody>
      </p:sp>
      <p:sp>
        <p:nvSpPr>
          <p:cNvPr id="4" name="Shape 2"/>
          <p:cNvSpPr/>
          <p:nvPr/>
        </p:nvSpPr>
        <p:spPr>
          <a:xfrm>
            <a:off x="1481328" y="2926080"/>
            <a:ext cx="9226296" cy="0"/>
          </a:xfrm>
          <a:prstGeom prst="line">
            <a:avLst/>
          </a:prstGeom>
          <a:noFill/>
          <a:ln w="25400">
            <a:solidFill>
              <a:srgbClr val="00684A"/>
            </a:solidFill>
            <a:prstDash val="solid"/>
          </a:ln>
        </p:spPr>
      </p:sp>
      <p:sp>
        <p:nvSpPr>
          <p:cNvPr id="5" name="Text 3"/>
          <p:cNvSpPr/>
          <p:nvPr/>
        </p:nvSpPr>
        <p:spPr>
          <a:xfrm>
            <a:off x="832104"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01</a:t>
            </a:r>
            <a:endParaRPr lang="en-US" sz="3200" dirty="0"/>
          </a:p>
        </p:txBody>
      </p:sp>
      <p:sp>
        <p:nvSpPr>
          <p:cNvPr id="6" name="Shape 4"/>
          <p:cNvSpPr/>
          <p:nvPr/>
        </p:nvSpPr>
        <p:spPr>
          <a:xfrm>
            <a:off x="1325880" y="2770632"/>
            <a:ext cx="310896" cy="310896"/>
          </a:xfrm>
          <a:prstGeom prst="ellipse">
            <a:avLst/>
          </a:prstGeom>
          <a:solidFill>
            <a:srgbClr val="FFFFFF"/>
          </a:solidFill>
          <a:ln w="38100">
            <a:solidFill>
              <a:srgbClr val="00684A"/>
            </a:solidFill>
            <a:prstDash val="solid"/>
          </a:ln>
        </p:spPr>
      </p:sp>
      <p:sp>
        <p:nvSpPr>
          <p:cNvPr id="7" name="Text 5"/>
          <p:cNvSpPr/>
          <p:nvPr/>
        </p:nvSpPr>
        <p:spPr>
          <a:xfrm>
            <a:off x="832104"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PROBLEMA</a:t>
            </a:r>
            <a:endParaRPr lang="en-US" sz="1700" dirty="0"/>
          </a:p>
        </p:txBody>
      </p:sp>
      <p:sp>
        <p:nvSpPr>
          <p:cNvPr id="8" name="Text 6"/>
          <p:cNvSpPr/>
          <p:nvPr/>
        </p:nvSpPr>
        <p:spPr>
          <a:xfrm>
            <a:off x="832104"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Filas que no encajan</a:t>
            </a:r>
            <a:endParaRPr lang="en-US" sz="1600" dirty="0"/>
          </a:p>
        </p:txBody>
      </p:sp>
      <p:sp>
        <p:nvSpPr>
          <p:cNvPr id="9" name="Text 7"/>
          <p:cNvSpPr/>
          <p:nvPr/>
        </p:nvSpPr>
        <p:spPr>
          <a:xfrm>
            <a:off x="2150146"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02</a:t>
            </a:r>
            <a:endParaRPr lang="en-US" sz="3200" dirty="0"/>
          </a:p>
        </p:txBody>
      </p:sp>
      <p:sp>
        <p:nvSpPr>
          <p:cNvPr id="10" name="Shape 8"/>
          <p:cNvSpPr/>
          <p:nvPr/>
        </p:nvSpPr>
        <p:spPr>
          <a:xfrm>
            <a:off x="2643922" y="2770632"/>
            <a:ext cx="310896" cy="310896"/>
          </a:xfrm>
          <a:prstGeom prst="ellipse">
            <a:avLst/>
          </a:prstGeom>
          <a:solidFill>
            <a:srgbClr val="FFFFFF"/>
          </a:solidFill>
          <a:ln w="38100">
            <a:solidFill>
              <a:srgbClr val="00684A"/>
            </a:solidFill>
            <a:prstDash val="solid"/>
          </a:ln>
        </p:spPr>
      </p:sp>
      <p:sp>
        <p:nvSpPr>
          <p:cNvPr id="11" name="Text 9"/>
          <p:cNvSpPr/>
          <p:nvPr/>
        </p:nvSpPr>
        <p:spPr>
          <a:xfrm>
            <a:off x="2150146"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PIEZAS</a:t>
            </a:r>
            <a:endParaRPr lang="en-US" sz="1700" dirty="0"/>
          </a:p>
        </p:txBody>
      </p:sp>
      <p:sp>
        <p:nvSpPr>
          <p:cNvPr id="12" name="Text 10"/>
          <p:cNvSpPr/>
          <p:nvPr/>
        </p:nvSpPr>
        <p:spPr>
          <a:xfrm>
            <a:off x="2150146"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Del código a Atlas</a:t>
            </a:r>
            <a:endParaRPr lang="en-US" sz="1600" dirty="0"/>
          </a:p>
        </p:txBody>
      </p:sp>
      <p:sp>
        <p:nvSpPr>
          <p:cNvPr id="13" name="Text 11"/>
          <p:cNvSpPr/>
          <p:nvPr/>
        </p:nvSpPr>
        <p:spPr>
          <a:xfrm>
            <a:off x="3468189"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03</a:t>
            </a:r>
            <a:endParaRPr lang="en-US" sz="3200" dirty="0"/>
          </a:p>
        </p:txBody>
      </p:sp>
      <p:sp>
        <p:nvSpPr>
          <p:cNvPr id="14" name="Shape 12"/>
          <p:cNvSpPr/>
          <p:nvPr/>
        </p:nvSpPr>
        <p:spPr>
          <a:xfrm>
            <a:off x="3961965" y="2770632"/>
            <a:ext cx="310896" cy="310896"/>
          </a:xfrm>
          <a:prstGeom prst="ellipse">
            <a:avLst/>
          </a:prstGeom>
          <a:solidFill>
            <a:srgbClr val="FFFFFF"/>
          </a:solidFill>
          <a:ln w="38100">
            <a:solidFill>
              <a:srgbClr val="00684A"/>
            </a:solidFill>
            <a:prstDash val="solid"/>
          </a:ln>
        </p:spPr>
      </p:sp>
      <p:sp>
        <p:nvSpPr>
          <p:cNvPr id="15" name="Text 13"/>
          <p:cNvSpPr/>
          <p:nvPr/>
        </p:nvSpPr>
        <p:spPr>
          <a:xfrm>
            <a:off x="3468189"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CÓMO SE USA</a:t>
            </a:r>
            <a:endParaRPr lang="en-US" sz="1700" dirty="0"/>
          </a:p>
        </p:txBody>
      </p:sp>
      <p:sp>
        <p:nvSpPr>
          <p:cNvPr id="16" name="Text 14"/>
          <p:cNvSpPr/>
          <p:nvPr/>
        </p:nvSpPr>
        <p:spPr>
          <a:xfrm>
            <a:off x="3468189"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Cinco pasos</a:t>
            </a:r>
            <a:endParaRPr lang="en-US" sz="1600" dirty="0"/>
          </a:p>
        </p:txBody>
      </p:sp>
      <p:sp>
        <p:nvSpPr>
          <p:cNvPr id="17" name="Text 15"/>
          <p:cNvSpPr/>
          <p:nvPr/>
        </p:nvSpPr>
        <p:spPr>
          <a:xfrm>
            <a:off x="4786231"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04</a:t>
            </a:r>
            <a:endParaRPr lang="en-US" sz="3200" dirty="0"/>
          </a:p>
        </p:txBody>
      </p:sp>
      <p:sp>
        <p:nvSpPr>
          <p:cNvPr id="18" name="Shape 16"/>
          <p:cNvSpPr/>
          <p:nvPr/>
        </p:nvSpPr>
        <p:spPr>
          <a:xfrm>
            <a:off x="5280007" y="2770632"/>
            <a:ext cx="310896" cy="310896"/>
          </a:xfrm>
          <a:prstGeom prst="ellipse">
            <a:avLst/>
          </a:prstGeom>
          <a:solidFill>
            <a:srgbClr val="FFFFFF"/>
          </a:solidFill>
          <a:ln w="38100">
            <a:solidFill>
              <a:srgbClr val="00684A"/>
            </a:solidFill>
            <a:prstDash val="solid"/>
          </a:ln>
        </p:spPr>
      </p:sp>
      <p:sp>
        <p:nvSpPr>
          <p:cNvPr id="19" name="Text 17"/>
          <p:cNvSpPr/>
          <p:nvPr/>
        </p:nvSpPr>
        <p:spPr>
          <a:xfrm>
            <a:off x="4786231"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VS. EL CURSO</a:t>
            </a:r>
            <a:endParaRPr lang="en-US" sz="1700" dirty="0"/>
          </a:p>
        </p:txBody>
      </p:sp>
      <p:sp>
        <p:nvSpPr>
          <p:cNvPr id="20" name="Text 18"/>
          <p:cNvSpPr/>
          <p:nvPr/>
        </p:nvSpPr>
        <p:spPr>
          <a:xfrm>
            <a:off x="4786231"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MySQL, Docker, GraphQL, token</a:t>
            </a:r>
            <a:endParaRPr lang="en-US" sz="1600" dirty="0"/>
          </a:p>
        </p:txBody>
      </p:sp>
      <p:sp>
        <p:nvSpPr>
          <p:cNvPr id="21" name="Text 19"/>
          <p:cNvSpPr/>
          <p:nvPr/>
        </p:nvSpPr>
        <p:spPr>
          <a:xfrm>
            <a:off x="6104273"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05</a:t>
            </a:r>
            <a:endParaRPr lang="en-US" sz="3200" dirty="0"/>
          </a:p>
        </p:txBody>
      </p:sp>
      <p:sp>
        <p:nvSpPr>
          <p:cNvPr id="22" name="Shape 20"/>
          <p:cNvSpPr/>
          <p:nvPr/>
        </p:nvSpPr>
        <p:spPr>
          <a:xfrm>
            <a:off x="6598049" y="2770632"/>
            <a:ext cx="310896" cy="310896"/>
          </a:xfrm>
          <a:prstGeom prst="ellipse">
            <a:avLst/>
          </a:prstGeom>
          <a:solidFill>
            <a:srgbClr val="FFFFFF"/>
          </a:solidFill>
          <a:ln w="38100">
            <a:solidFill>
              <a:srgbClr val="00684A"/>
            </a:solidFill>
            <a:prstDash val="solid"/>
          </a:ln>
        </p:spPr>
      </p:sp>
      <p:sp>
        <p:nvSpPr>
          <p:cNvPr id="23" name="Text 21"/>
          <p:cNvSpPr/>
          <p:nvPr/>
        </p:nvSpPr>
        <p:spPr>
          <a:xfrm>
            <a:off x="6104273"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EJEMPLO</a:t>
            </a:r>
            <a:endParaRPr lang="en-US" sz="1700" dirty="0"/>
          </a:p>
        </p:txBody>
      </p:sp>
      <p:sp>
        <p:nvSpPr>
          <p:cNvPr id="24" name="Text 22"/>
          <p:cNvSpPr/>
          <p:nvPr/>
        </p:nvSpPr>
        <p:spPr>
          <a:xfrm>
            <a:off x="6104273"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API de productos</a:t>
            </a:r>
            <a:endParaRPr lang="en-US" sz="1600" dirty="0"/>
          </a:p>
        </p:txBody>
      </p:sp>
      <p:sp>
        <p:nvSpPr>
          <p:cNvPr id="25" name="Text 23"/>
          <p:cNvSpPr/>
          <p:nvPr/>
        </p:nvSpPr>
        <p:spPr>
          <a:xfrm>
            <a:off x="7422315"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06</a:t>
            </a:r>
            <a:endParaRPr lang="en-US" sz="3200" dirty="0"/>
          </a:p>
        </p:txBody>
      </p:sp>
      <p:sp>
        <p:nvSpPr>
          <p:cNvPr id="26" name="Shape 24"/>
          <p:cNvSpPr/>
          <p:nvPr/>
        </p:nvSpPr>
        <p:spPr>
          <a:xfrm>
            <a:off x="7916091" y="2770632"/>
            <a:ext cx="310896" cy="310896"/>
          </a:xfrm>
          <a:prstGeom prst="ellipse">
            <a:avLst/>
          </a:prstGeom>
          <a:solidFill>
            <a:srgbClr val="FFFFFF"/>
          </a:solidFill>
          <a:ln w="38100">
            <a:solidFill>
              <a:srgbClr val="00684A"/>
            </a:solidFill>
            <a:prstDash val="solid"/>
          </a:ln>
        </p:spPr>
      </p:sp>
      <p:sp>
        <p:nvSpPr>
          <p:cNvPr id="27" name="Text 25"/>
          <p:cNvSpPr/>
          <p:nvPr/>
        </p:nvSpPr>
        <p:spPr>
          <a:xfrm>
            <a:off x="7422315"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GANA Y CUESTA</a:t>
            </a:r>
            <a:endParaRPr lang="en-US" sz="1700" dirty="0"/>
          </a:p>
        </p:txBody>
      </p:sp>
      <p:sp>
        <p:nvSpPr>
          <p:cNvPr id="28" name="Text 26"/>
          <p:cNvSpPr/>
          <p:nvPr/>
        </p:nvSpPr>
        <p:spPr>
          <a:xfrm>
            <a:off x="7422315"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Ventajas y límites</a:t>
            </a:r>
            <a:endParaRPr lang="en-US" sz="1600" dirty="0"/>
          </a:p>
        </p:txBody>
      </p:sp>
      <p:sp>
        <p:nvSpPr>
          <p:cNvPr id="29" name="Text 27"/>
          <p:cNvSpPr/>
          <p:nvPr/>
        </p:nvSpPr>
        <p:spPr>
          <a:xfrm>
            <a:off x="8740358"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07</a:t>
            </a:r>
            <a:endParaRPr lang="en-US" sz="3200" dirty="0"/>
          </a:p>
        </p:txBody>
      </p:sp>
      <p:sp>
        <p:nvSpPr>
          <p:cNvPr id="30" name="Shape 28"/>
          <p:cNvSpPr/>
          <p:nvPr/>
        </p:nvSpPr>
        <p:spPr>
          <a:xfrm>
            <a:off x="9234134" y="2770632"/>
            <a:ext cx="310896" cy="310896"/>
          </a:xfrm>
          <a:prstGeom prst="ellipse">
            <a:avLst/>
          </a:prstGeom>
          <a:solidFill>
            <a:srgbClr val="FFFFFF"/>
          </a:solidFill>
          <a:ln w="38100">
            <a:solidFill>
              <a:srgbClr val="00684A"/>
            </a:solidFill>
            <a:prstDash val="solid"/>
          </a:ln>
        </p:spPr>
      </p:sp>
      <p:sp>
        <p:nvSpPr>
          <p:cNvPr id="31" name="Text 29"/>
          <p:cNvSpPr/>
          <p:nvPr/>
        </p:nvSpPr>
        <p:spPr>
          <a:xfrm>
            <a:off x="8740358"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CUÁNDO NO</a:t>
            </a:r>
            <a:endParaRPr lang="en-US" sz="1700" dirty="0"/>
          </a:p>
        </p:txBody>
      </p:sp>
      <p:sp>
        <p:nvSpPr>
          <p:cNvPr id="32" name="Text 30"/>
          <p:cNvSpPr/>
          <p:nvPr/>
        </p:nvSpPr>
        <p:spPr>
          <a:xfrm>
            <a:off x="8740358"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Dónde se queda corto</a:t>
            </a:r>
            <a:endParaRPr lang="en-US" sz="1600" dirty="0"/>
          </a:p>
        </p:txBody>
      </p:sp>
      <p:sp>
        <p:nvSpPr>
          <p:cNvPr id="33" name="Text 31"/>
          <p:cNvSpPr/>
          <p:nvPr/>
        </p:nvSpPr>
        <p:spPr>
          <a:xfrm>
            <a:off x="10058400" y="2057400"/>
            <a:ext cx="1298448" cy="594360"/>
          </a:xfrm>
          <a:prstGeom prst="rect">
            <a:avLst/>
          </a:prstGeom>
          <a:noFill/>
          <a:ln/>
        </p:spPr>
        <p:txBody>
          <a:bodyPr wrap="square" lIns="0" tIns="0" rIns="0" bIns="0" rtlCol="0" anchor="b"/>
          <a:lstStyle/>
          <a:p>
            <a:pPr algn="ctr" indent="0" marL="0">
              <a:buNone/>
            </a:pPr>
            <a:r>
              <a:rPr lang="en-US" sz="3200" b="1" dirty="0">
                <a:solidFill>
                  <a:srgbClr val="00684A"/>
                </a:solidFill>
                <a:latin typeface="Arial Narrow" pitchFamily="34" charset="0"/>
                <a:ea typeface="Arial Narrow" pitchFamily="34" charset="-122"/>
                <a:cs typeface="Arial Narrow" pitchFamily="34" charset="-120"/>
              </a:rPr>
              <a:t>08</a:t>
            </a:r>
            <a:endParaRPr lang="en-US" sz="3200" dirty="0"/>
          </a:p>
        </p:txBody>
      </p:sp>
      <p:sp>
        <p:nvSpPr>
          <p:cNvPr id="34" name="Shape 32"/>
          <p:cNvSpPr/>
          <p:nvPr/>
        </p:nvSpPr>
        <p:spPr>
          <a:xfrm>
            <a:off x="10552176" y="2770632"/>
            <a:ext cx="310896" cy="310896"/>
          </a:xfrm>
          <a:prstGeom prst="ellipse">
            <a:avLst/>
          </a:prstGeom>
          <a:solidFill>
            <a:srgbClr val="00ED64"/>
          </a:solidFill>
          <a:ln w="38100">
            <a:solidFill>
              <a:srgbClr val="00ED64"/>
            </a:solidFill>
            <a:prstDash val="solid"/>
          </a:ln>
        </p:spPr>
      </p:sp>
      <p:sp>
        <p:nvSpPr>
          <p:cNvPr id="35" name="Text 33"/>
          <p:cNvSpPr/>
          <p:nvPr/>
        </p:nvSpPr>
        <p:spPr>
          <a:xfrm>
            <a:off x="10058400" y="3291840"/>
            <a:ext cx="1298448" cy="640080"/>
          </a:xfrm>
          <a:prstGeom prst="rect">
            <a:avLst/>
          </a:prstGeom>
          <a:noFill/>
          <a:ln/>
        </p:spPr>
        <p:txBody>
          <a:bodyPr wrap="square" lIns="0" tIns="0" rIns="0" bIns="0" rtlCol="0" anchor="t"/>
          <a:lstStyle/>
          <a:p>
            <a:pPr algn="ctr" indent="0" marL="0">
              <a:buNone/>
            </a:pPr>
            <a:r>
              <a:rPr lang="en-US" sz="1700" b="1" dirty="0">
                <a:solidFill>
                  <a:srgbClr val="001E2B"/>
                </a:solidFill>
                <a:latin typeface="Arial Narrow" pitchFamily="34" charset="0"/>
                <a:ea typeface="Arial Narrow" pitchFamily="34" charset="-122"/>
                <a:cs typeface="Arial Narrow" pitchFamily="34" charset="-120"/>
              </a:rPr>
              <a:t>FUENTES</a:t>
            </a:r>
            <a:endParaRPr lang="en-US" sz="1700" dirty="0"/>
          </a:p>
        </p:txBody>
      </p:sp>
      <p:sp>
        <p:nvSpPr>
          <p:cNvPr id="36" name="Text 34"/>
          <p:cNvSpPr/>
          <p:nvPr/>
        </p:nvSpPr>
        <p:spPr>
          <a:xfrm>
            <a:off x="10058400" y="3977640"/>
            <a:ext cx="1298448" cy="960120"/>
          </a:xfrm>
          <a:prstGeom prst="rect">
            <a:avLst/>
          </a:prstGeom>
          <a:noFill/>
          <a:ln/>
        </p:spPr>
        <p:txBody>
          <a:bodyPr wrap="square" lIns="0" tIns="0" rIns="0" bIns="0" rtlCol="0" anchor="t"/>
          <a:lstStyle/>
          <a:p>
            <a:pPr algn="ctr" indent="0" marL="0">
              <a:buNone/>
            </a:pPr>
            <a:r>
              <a:rPr lang="en-US" sz="1600" dirty="0">
                <a:solidFill>
                  <a:srgbClr val="5C6C75"/>
                </a:solidFill>
                <a:latin typeface="Calibri" pitchFamily="34" charset="0"/>
                <a:ea typeface="Calibri" pitchFamily="34" charset="-122"/>
                <a:cs typeface="Calibri" pitchFamily="34" charset="-120"/>
              </a:rPr>
              <a:t>Tres referencias oficiales</a:t>
            </a:r>
            <a:endParaRPr lang="en-US" sz="1600" dirty="0"/>
          </a:p>
        </p:txBody>
      </p:sp>
      <p:sp>
        <p:nvSpPr>
          <p:cNvPr id="37" name="Shape 35"/>
          <p:cNvSpPr/>
          <p:nvPr/>
        </p:nvSpPr>
        <p:spPr>
          <a:xfrm>
            <a:off x="822960" y="5257800"/>
            <a:ext cx="10543032" cy="777240"/>
          </a:xfrm>
          <a:prstGeom prst="rect">
            <a:avLst/>
          </a:prstGeom>
          <a:solidFill>
            <a:srgbClr val="EBF5F2"/>
          </a:solidFill>
          <a:ln/>
        </p:spPr>
      </p:sp>
      <p:sp>
        <p:nvSpPr>
          <p:cNvPr id="38" name="Text 36"/>
          <p:cNvSpPr/>
          <p:nvPr/>
        </p:nvSpPr>
        <p:spPr>
          <a:xfrm>
            <a:off x="822960" y="5257800"/>
            <a:ext cx="10543032" cy="777240"/>
          </a:xfrm>
          <a:prstGeom prst="rect">
            <a:avLst/>
          </a:prstGeom>
          <a:noFill/>
          <a:ln/>
        </p:spPr>
        <p:txBody>
          <a:bodyPr wrap="square" lIns="0" tIns="0" rIns="0" bIns="0" rtlCol="0" anchor="ctr"/>
          <a:lstStyle/>
          <a:p>
            <a:pPr algn="ctr" indent="0" marL="0">
              <a:buNone/>
            </a:pPr>
            <a:r>
              <a:rPr lang="en-US" sz="2100" b="1" dirty="0">
                <a:solidFill>
                  <a:srgbClr val="00684A"/>
                </a:solidFill>
                <a:latin typeface="Calibri" pitchFamily="34" charset="0"/>
                <a:ea typeface="Calibri" pitchFamily="34" charset="-122"/>
                <a:cs typeface="Calibri" pitchFamily="34" charset="-120"/>
              </a:rPr>
              <a:t>15 minutos de exposición  ·  el ejemplo puede incluir una demo corta</a:t>
            </a:r>
            <a:endParaRPr lang="en-US" sz="2100" dirty="0"/>
          </a:p>
        </p:txBody>
      </p:sp>
      <p:sp>
        <p:nvSpPr>
          <p:cNvPr id="39" name="Text 37"/>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02 / 12</a:t>
            </a:r>
            <a:endParaRPr lang="en-US" sz="1300" dirty="0"/>
          </a:p>
        </p:txBody>
      </p:sp>
      <p:sp>
        <p:nvSpPr>
          <p:cNvPr id="40" name="Text 38"/>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CUANDO LA FILA NO ES LA FORMA</a:t>
            </a:r>
            <a:endParaRPr lang="en-US" sz="3600" dirty="0"/>
          </a:p>
        </p:txBody>
      </p:sp>
      <p:sp>
        <p:nvSpPr>
          <p:cNvPr id="4" name="Shape 2"/>
          <p:cNvSpPr/>
          <p:nvPr/>
        </p:nvSpPr>
        <p:spPr>
          <a:xfrm>
            <a:off x="822960" y="1325880"/>
            <a:ext cx="4892040" cy="3337560"/>
          </a:xfrm>
          <a:prstGeom prst="rect">
            <a:avLst/>
          </a:prstGeom>
          <a:solidFill>
            <a:srgbClr val="FFFFFF"/>
          </a:solidFill>
          <a:ln w="15875">
            <a:solidFill>
              <a:srgbClr val="D5DDE0"/>
            </a:solidFill>
            <a:prstDash val="solid"/>
          </a:ln>
        </p:spPr>
      </p:sp>
      <p:sp>
        <p:nvSpPr>
          <p:cNvPr id="5" name="Shape 3"/>
          <p:cNvSpPr/>
          <p:nvPr/>
        </p:nvSpPr>
        <p:spPr>
          <a:xfrm>
            <a:off x="822960" y="1325880"/>
            <a:ext cx="4892040" cy="411480"/>
          </a:xfrm>
          <a:prstGeom prst="rect">
            <a:avLst/>
          </a:prstGeom>
          <a:solidFill>
            <a:srgbClr val="EEF1F3"/>
          </a:solidFill>
          <a:ln/>
        </p:spPr>
      </p:sp>
      <p:sp>
        <p:nvSpPr>
          <p:cNvPr id="6" name="Text 4"/>
          <p:cNvSpPr/>
          <p:nvPr/>
        </p:nvSpPr>
        <p:spPr>
          <a:xfrm>
            <a:off x="1005840" y="1325880"/>
            <a:ext cx="4572000" cy="411480"/>
          </a:xfrm>
          <a:prstGeom prst="rect">
            <a:avLst/>
          </a:prstGeom>
          <a:noFill/>
          <a:ln/>
        </p:spPr>
        <p:txBody>
          <a:bodyPr wrap="square" lIns="0" tIns="0" rIns="0" bIns="0" rtlCol="0" anchor="ctr"/>
          <a:lstStyle/>
          <a:p>
            <a:pPr indent="0" marL="0">
              <a:buNone/>
            </a:pPr>
            <a:r>
              <a:rPr lang="en-US" sz="1400" dirty="0">
                <a:solidFill>
                  <a:srgbClr val="5C6C75"/>
                </a:solidFill>
                <a:latin typeface="Consolas" pitchFamily="34" charset="0"/>
                <a:ea typeface="Consolas" pitchFamily="34" charset="-122"/>
                <a:cs typeface="Consolas" pitchFamily="34" charset="-120"/>
              </a:rPr>
              <a:t>MySQL  ·  tabla productos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005840" y="1965960"/>
          <a:ext cx="4526280" cy="914400"/>
        </p:xfrm>
        <a:graphic>
          <a:graphicData uri="http://schemas.openxmlformats.org/drawingml/2006/table">
            <a:tbl>
              <a:tblPr/>
              <a:tblGrid>
                <a:gridCol w="1051560"/>
                <a:gridCol w="777240"/>
                <a:gridCol w="731520"/>
                <a:gridCol w="914400"/>
                <a:gridCol w="1051560"/>
              </a:tblGrid>
              <a:tr h="56692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nombre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068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precio</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068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talla</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068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voltaje</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068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páginas</a:t>
                      </a:r>
                      <a:endParaRPr lang="en-US" sz="15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0684A"/>
                    </a:solidFill>
                  </a:tcPr>
                </a:tc>
              </a:tr>
              <a:tr h="566928">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Playera</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199</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M</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r>
              <a:tr h="566928">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Lámpara</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450</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127 V</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r>
              <a:tr h="566928">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Libro</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c>
                  <a:txBody>
                    <a:bodyPr/>
                    <a:lstStyle/>
                    <a:p>
                      <a:pPr algn="ctr" indent="0" marL="0">
                        <a:buNone/>
                      </a:pPr>
                      <a:r>
                        <a:rPr lang="en-US" sz="1300" i="1" dirty="0">
                          <a:solidFill>
                            <a:srgbClr val="A0AEB4"/>
                          </a:solidFill>
                          <a:latin typeface="Consolas" pitchFamily="34" charset="0"/>
                          <a:ea typeface="Consolas" pitchFamily="34" charset="-122"/>
                          <a:cs typeface="Consolas" pitchFamily="34" charset="-120"/>
                        </a:rPr>
                        <a:t>NULL</a:t>
                      </a:r>
                      <a:endParaRPr lang="en-US" sz="1300" dirty="0">
                        <a:latin typeface="Consolas" charset="0"/>
                        <a:ea typeface="Consolas" charset="0"/>
                        <a:cs typeface="Consolas"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EF1F3"/>
                    </a:solidFill>
                  </a:tcPr>
                </a:tc>
                <a:tc>
                  <a:txBody>
                    <a:bodyPr/>
                    <a:lstStyle/>
                    <a:p>
                      <a:pPr algn="ctr" indent="0" marL="0">
                        <a:buNone/>
                      </a:pPr>
                      <a:r>
                        <a:rPr lang="en-US" sz="1600" dirty="0">
                          <a:solidFill>
                            <a:srgbClr val="1C2D38"/>
                          </a:solidFill>
                          <a:latin typeface="Calibri" pitchFamily="34" charset="0"/>
                          <a:ea typeface="Calibri" pitchFamily="34" charset="-122"/>
                          <a:cs typeface="Calibri" pitchFamily="34" charset="-120"/>
                        </a:rPr>
                        <a:t>280</a:t>
                      </a:r>
                      <a:endParaRPr lang="en-US" sz="1600" dirty="0">
                        <a:latin typeface="Calibri" charset="0"/>
                        <a:ea typeface="Calibri" charset="0"/>
                        <a:cs typeface="Calibri" charset="0"/>
                      </a:endParaRPr>
                    </a:p>
                  </a:txBody>
                  <a:tcPr marL="91440" marR="91440" marT="45720" marB="45720"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8" name="Shape 5"/>
          <p:cNvSpPr/>
          <p:nvPr/>
        </p:nvSpPr>
        <p:spPr>
          <a:xfrm>
            <a:off x="5824728" y="2743200"/>
            <a:ext cx="548640" cy="457200"/>
          </a:xfrm>
          <a:prstGeom prst="rightArrow">
            <a:avLst/>
          </a:prstGeom>
          <a:solidFill>
            <a:srgbClr val="00684A"/>
          </a:solidFill>
          <a:ln/>
        </p:spPr>
      </p:sp>
      <p:sp>
        <p:nvSpPr>
          <p:cNvPr id="9" name="Shape 6"/>
          <p:cNvSpPr/>
          <p:nvPr/>
        </p:nvSpPr>
        <p:spPr>
          <a:xfrm>
            <a:off x="6492240" y="1325880"/>
            <a:ext cx="4873752" cy="3337560"/>
          </a:xfrm>
          <a:prstGeom prst="rect">
            <a:avLst/>
          </a:prstGeom>
          <a:solidFill>
            <a:srgbClr val="FFFFFF"/>
          </a:solidFill>
          <a:ln w="31750">
            <a:solidFill>
              <a:srgbClr val="00ED64"/>
            </a:solidFill>
            <a:prstDash val="solid"/>
          </a:ln>
        </p:spPr>
      </p:sp>
      <p:sp>
        <p:nvSpPr>
          <p:cNvPr id="10" name="Shape 7"/>
          <p:cNvSpPr/>
          <p:nvPr/>
        </p:nvSpPr>
        <p:spPr>
          <a:xfrm>
            <a:off x="6492240" y="1325880"/>
            <a:ext cx="4873752" cy="411480"/>
          </a:xfrm>
          <a:prstGeom prst="rect">
            <a:avLst/>
          </a:prstGeom>
          <a:solidFill>
            <a:srgbClr val="E6FDEF"/>
          </a:solidFill>
          <a:ln/>
        </p:spPr>
      </p:sp>
      <p:sp>
        <p:nvSpPr>
          <p:cNvPr id="11" name="Text 8"/>
          <p:cNvSpPr/>
          <p:nvPr/>
        </p:nvSpPr>
        <p:spPr>
          <a:xfrm>
            <a:off x="6675120" y="1325880"/>
            <a:ext cx="4599432" cy="411480"/>
          </a:xfrm>
          <a:prstGeom prst="rect">
            <a:avLst/>
          </a:prstGeom>
          <a:noFill/>
          <a:ln/>
        </p:spPr>
        <p:txBody>
          <a:bodyPr wrap="square" lIns="0" tIns="0" rIns="0" bIns="0" rtlCol="0" anchor="ctr"/>
          <a:lstStyle/>
          <a:p>
            <a:pPr indent="0" marL="0">
              <a:buNone/>
            </a:pPr>
            <a:r>
              <a:rPr lang="en-US" sz="1400" dirty="0">
                <a:solidFill>
                  <a:srgbClr val="00684A"/>
                </a:solidFill>
                <a:latin typeface="Consolas" pitchFamily="34" charset="0"/>
                <a:ea typeface="Consolas" pitchFamily="34" charset="-122"/>
                <a:cs typeface="Consolas" pitchFamily="34" charset="-120"/>
              </a:rPr>
              <a:t>MongoDB  ·  colección productos</a:t>
            </a:r>
            <a:endParaRPr lang="en-US" sz="1400" dirty="0"/>
          </a:p>
        </p:txBody>
      </p:sp>
      <p:sp>
        <p:nvSpPr>
          <p:cNvPr id="12" name="Shape 9"/>
          <p:cNvSpPr/>
          <p:nvPr/>
        </p:nvSpPr>
        <p:spPr>
          <a:xfrm>
            <a:off x="6675120" y="1947672"/>
            <a:ext cx="4507992" cy="777240"/>
          </a:xfrm>
          <a:prstGeom prst="rect">
            <a:avLst/>
          </a:prstGeom>
          <a:solidFill>
            <a:srgbClr val="F6F8F9"/>
          </a:solidFill>
          <a:ln w="9525">
            <a:solidFill>
              <a:srgbClr val="D5DDE0"/>
            </a:solidFill>
            <a:prstDash val="solid"/>
          </a:ln>
        </p:spPr>
      </p:sp>
      <p:sp>
        <p:nvSpPr>
          <p:cNvPr id="13" name="Text 10"/>
          <p:cNvSpPr/>
          <p:nvPr/>
        </p:nvSpPr>
        <p:spPr>
          <a:xfrm>
            <a:off x="6812280" y="1947672"/>
            <a:ext cx="4325112" cy="777240"/>
          </a:xfrm>
          <a:prstGeom prst="rect">
            <a:avLst/>
          </a:prstGeom>
          <a:noFill/>
          <a:ln/>
        </p:spPr>
        <p:txBody>
          <a:bodyPr wrap="square" lIns="0" tIns="0" rIns="0" bIns="0" rtlCol="0" anchor="ctr"/>
          <a:lstStyle/>
          <a:p>
            <a:pPr indent="0" marL="0">
              <a:buNone/>
            </a:pPr>
            <a:r>
              <a:rPr lang="en-US" sz="1500" dirty="0">
                <a:solidFill>
                  <a:srgbClr val="001E2B"/>
                </a:solidFill>
                <a:latin typeface="Consolas" pitchFamily="34" charset="0"/>
                <a:ea typeface="Consolas" pitchFamily="34" charset="-122"/>
                <a:cs typeface="Consolas" pitchFamily="34" charset="-120"/>
              </a:rPr>
              <a:t>{ nombre: "Playera", precio: 199,</a:t>
            </a:r>
            <a:endParaRPr lang="en-US" sz="1500" dirty="0"/>
          </a:p>
          <a:p>
            <a:pPr indent="0" marL="0">
              <a:buNone/>
            </a:pPr>
            <a:r>
              <a:rPr lang="en-US" sz="1500" dirty="0">
                <a:solidFill>
                  <a:srgbClr val="001E2B"/>
                </a:solidFill>
                <a:latin typeface="Consolas" pitchFamily="34" charset="0"/>
                <a:ea typeface="Consolas" pitchFamily="34" charset="-122"/>
                <a:cs typeface="Consolas" pitchFamily="34" charset="-120"/>
              </a:rPr>
              <a:t>  talla: "M" }</a:t>
            </a:r>
            <a:endParaRPr lang="en-US" sz="1500" dirty="0"/>
          </a:p>
        </p:txBody>
      </p:sp>
      <p:sp>
        <p:nvSpPr>
          <p:cNvPr id="14" name="Shape 11"/>
          <p:cNvSpPr/>
          <p:nvPr/>
        </p:nvSpPr>
        <p:spPr>
          <a:xfrm>
            <a:off x="6675120" y="2834640"/>
            <a:ext cx="4507992" cy="777240"/>
          </a:xfrm>
          <a:prstGeom prst="rect">
            <a:avLst/>
          </a:prstGeom>
          <a:solidFill>
            <a:srgbClr val="F6F8F9"/>
          </a:solidFill>
          <a:ln w="9525">
            <a:solidFill>
              <a:srgbClr val="D5DDE0"/>
            </a:solidFill>
            <a:prstDash val="solid"/>
          </a:ln>
        </p:spPr>
      </p:sp>
      <p:sp>
        <p:nvSpPr>
          <p:cNvPr id="15" name="Text 12"/>
          <p:cNvSpPr/>
          <p:nvPr/>
        </p:nvSpPr>
        <p:spPr>
          <a:xfrm>
            <a:off x="6812280" y="2834640"/>
            <a:ext cx="4325112" cy="777240"/>
          </a:xfrm>
          <a:prstGeom prst="rect">
            <a:avLst/>
          </a:prstGeom>
          <a:noFill/>
          <a:ln/>
        </p:spPr>
        <p:txBody>
          <a:bodyPr wrap="square" lIns="0" tIns="0" rIns="0" bIns="0" rtlCol="0" anchor="ctr"/>
          <a:lstStyle/>
          <a:p>
            <a:pPr indent="0" marL="0">
              <a:buNone/>
            </a:pPr>
            <a:r>
              <a:rPr lang="en-US" sz="1500" dirty="0">
                <a:solidFill>
                  <a:srgbClr val="001E2B"/>
                </a:solidFill>
                <a:latin typeface="Consolas" pitchFamily="34" charset="0"/>
                <a:ea typeface="Consolas" pitchFamily="34" charset="-122"/>
                <a:cs typeface="Consolas" pitchFamily="34" charset="-120"/>
              </a:rPr>
              <a:t>{ nombre: "Lámpara", precio: 450,</a:t>
            </a:r>
            <a:endParaRPr lang="en-US" sz="1500" dirty="0"/>
          </a:p>
          <a:p>
            <a:pPr indent="0" marL="0">
              <a:buNone/>
            </a:pPr>
            <a:r>
              <a:rPr lang="en-US" sz="1500" dirty="0">
                <a:solidFill>
                  <a:srgbClr val="001E2B"/>
                </a:solidFill>
                <a:latin typeface="Consolas" pitchFamily="34" charset="0"/>
                <a:ea typeface="Consolas" pitchFamily="34" charset="-122"/>
                <a:cs typeface="Consolas" pitchFamily="34" charset="-120"/>
              </a:rPr>
              <a:t>  voltaje: "127 V" }</a:t>
            </a:r>
            <a:endParaRPr lang="en-US" sz="1500" dirty="0"/>
          </a:p>
        </p:txBody>
      </p:sp>
      <p:sp>
        <p:nvSpPr>
          <p:cNvPr id="16" name="Shape 13"/>
          <p:cNvSpPr/>
          <p:nvPr/>
        </p:nvSpPr>
        <p:spPr>
          <a:xfrm>
            <a:off x="6675120" y="3721608"/>
            <a:ext cx="4507992" cy="777240"/>
          </a:xfrm>
          <a:prstGeom prst="rect">
            <a:avLst/>
          </a:prstGeom>
          <a:solidFill>
            <a:srgbClr val="F6F8F9"/>
          </a:solidFill>
          <a:ln w="9525">
            <a:solidFill>
              <a:srgbClr val="D5DDE0"/>
            </a:solidFill>
            <a:prstDash val="solid"/>
          </a:ln>
        </p:spPr>
      </p:sp>
      <p:sp>
        <p:nvSpPr>
          <p:cNvPr id="17" name="Text 14"/>
          <p:cNvSpPr/>
          <p:nvPr/>
        </p:nvSpPr>
        <p:spPr>
          <a:xfrm>
            <a:off x="6812280" y="3721608"/>
            <a:ext cx="4325112" cy="777240"/>
          </a:xfrm>
          <a:prstGeom prst="rect">
            <a:avLst/>
          </a:prstGeom>
          <a:noFill/>
          <a:ln/>
        </p:spPr>
        <p:txBody>
          <a:bodyPr wrap="square" lIns="0" tIns="0" rIns="0" bIns="0" rtlCol="0" anchor="ctr"/>
          <a:lstStyle/>
          <a:p>
            <a:pPr indent="0" marL="0">
              <a:buNone/>
            </a:pPr>
            <a:r>
              <a:rPr lang="en-US" sz="1500" dirty="0">
                <a:solidFill>
                  <a:srgbClr val="001E2B"/>
                </a:solidFill>
                <a:latin typeface="Consolas" pitchFamily="34" charset="0"/>
                <a:ea typeface="Consolas" pitchFamily="34" charset="-122"/>
                <a:cs typeface="Consolas" pitchFamily="34" charset="-120"/>
              </a:rPr>
              <a:t>{ nombre: "Libro", precio: 320,</a:t>
            </a:r>
            <a:endParaRPr lang="en-US" sz="1500" dirty="0"/>
          </a:p>
          <a:p>
            <a:pPr indent="0" marL="0">
              <a:buNone/>
            </a:pPr>
            <a:r>
              <a:rPr lang="en-US" sz="1500" dirty="0">
                <a:solidFill>
                  <a:srgbClr val="001E2B"/>
                </a:solidFill>
                <a:latin typeface="Consolas" pitchFamily="34" charset="0"/>
                <a:ea typeface="Consolas" pitchFamily="34" charset="-122"/>
                <a:cs typeface="Consolas" pitchFamily="34" charset="-120"/>
              </a:rPr>
              <a:t>  paginas: 280 }</a:t>
            </a:r>
            <a:endParaRPr lang="en-US" sz="1500" dirty="0"/>
          </a:p>
        </p:txBody>
      </p:sp>
      <p:sp>
        <p:nvSpPr>
          <p:cNvPr id="18" name="Text 15"/>
          <p:cNvSpPr/>
          <p:nvPr/>
        </p:nvSpPr>
        <p:spPr>
          <a:xfrm>
            <a:off x="822960" y="4892040"/>
            <a:ext cx="4892040" cy="384048"/>
          </a:xfrm>
          <a:prstGeom prst="rect">
            <a:avLst/>
          </a:prstGeom>
          <a:noFill/>
          <a:ln/>
        </p:spPr>
        <p:txBody>
          <a:bodyPr wrap="square" lIns="0" tIns="0" rIns="0" bIns="0" rtlCol="0" anchor="t"/>
          <a:lstStyle/>
          <a:p>
            <a:pPr indent="0" marL="0">
              <a:buNone/>
            </a:pPr>
            <a:r>
              <a:rPr lang="en-US" sz="2400" b="1" dirty="0">
                <a:solidFill>
                  <a:srgbClr val="001E2B"/>
                </a:solidFill>
                <a:latin typeface="Arial Narrow" pitchFamily="34" charset="0"/>
                <a:ea typeface="Arial Narrow" pitchFamily="34" charset="-122"/>
                <a:cs typeface="Arial Narrow" pitchFamily="34" charset="-120"/>
              </a:rPr>
              <a:t>ESQUEMA FIJO</a:t>
            </a:r>
            <a:endParaRPr lang="en-US" sz="2400" dirty="0"/>
          </a:p>
        </p:txBody>
      </p:sp>
      <p:sp>
        <p:nvSpPr>
          <p:cNvPr id="19" name="Text 16"/>
          <p:cNvSpPr/>
          <p:nvPr/>
        </p:nvSpPr>
        <p:spPr>
          <a:xfrm>
            <a:off x="822960" y="5303520"/>
            <a:ext cx="4892040" cy="777240"/>
          </a:xfrm>
          <a:prstGeom prst="rect">
            <a:avLst/>
          </a:prstGeom>
          <a:noFill/>
          <a:ln/>
        </p:spPr>
        <p:txBody>
          <a:bodyPr wrap="square" lIns="0" tIns="0" rIns="0" bIns="0" rtlCol="0" anchor="t"/>
          <a:lstStyle/>
          <a:p>
            <a:pPr indent="0" marL="0">
              <a:buNone/>
            </a:pPr>
            <a:r>
              <a:rPr lang="en-US" sz="1800" dirty="0">
                <a:solidFill>
                  <a:srgbClr val="5C6C75"/>
                </a:solidFill>
                <a:latin typeface="Calibri" pitchFamily="34" charset="0"/>
                <a:ea typeface="Calibri" pitchFamily="34" charset="-122"/>
                <a:cs typeface="Calibri" pitchFamily="34" charset="-120"/>
              </a:rPr>
              <a:t>Las columnas se definen antes de insertar y cada fila carga también las que no usa.</a:t>
            </a:r>
            <a:endParaRPr lang="en-US" sz="1800" dirty="0"/>
          </a:p>
        </p:txBody>
      </p:sp>
      <p:sp>
        <p:nvSpPr>
          <p:cNvPr id="20" name="Text 17"/>
          <p:cNvSpPr/>
          <p:nvPr/>
        </p:nvSpPr>
        <p:spPr>
          <a:xfrm>
            <a:off x="6492240" y="4892040"/>
            <a:ext cx="4873752" cy="384048"/>
          </a:xfrm>
          <a:prstGeom prst="rect">
            <a:avLst/>
          </a:prstGeom>
          <a:noFill/>
          <a:ln/>
        </p:spPr>
        <p:txBody>
          <a:bodyPr wrap="square" lIns="0" tIns="0" rIns="0" bIns="0" rtlCol="0" anchor="t"/>
          <a:lstStyle/>
          <a:p>
            <a:pPr indent="0" marL="0">
              <a:buNone/>
            </a:pPr>
            <a:r>
              <a:rPr lang="en-US" sz="2400" b="1" dirty="0">
                <a:solidFill>
                  <a:srgbClr val="00684A"/>
                </a:solidFill>
                <a:latin typeface="Arial Narrow" pitchFamily="34" charset="0"/>
                <a:ea typeface="Arial Narrow" pitchFamily="34" charset="-122"/>
                <a:cs typeface="Arial Narrow" pitchFamily="34" charset="-120"/>
              </a:rPr>
              <a:t>ESQUEMA FLEXIBLE</a:t>
            </a:r>
            <a:endParaRPr lang="en-US" sz="2400" dirty="0"/>
          </a:p>
        </p:txBody>
      </p:sp>
      <p:sp>
        <p:nvSpPr>
          <p:cNvPr id="21" name="Text 18"/>
          <p:cNvSpPr/>
          <p:nvPr/>
        </p:nvSpPr>
        <p:spPr>
          <a:xfrm>
            <a:off x="6492240" y="5303520"/>
            <a:ext cx="4873752" cy="777240"/>
          </a:xfrm>
          <a:prstGeom prst="rect">
            <a:avLst/>
          </a:prstGeom>
          <a:noFill/>
          <a:ln/>
        </p:spPr>
        <p:txBody>
          <a:bodyPr wrap="square" lIns="0" tIns="0" rIns="0" bIns="0" rtlCol="0" anchor="t"/>
          <a:lstStyle/>
          <a:p>
            <a:pPr indent="0" marL="0">
              <a:buNone/>
            </a:pPr>
            <a:r>
              <a:rPr lang="en-US" sz="1800" dirty="0">
                <a:solidFill>
                  <a:srgbClr val="5C6C75"/>
                </a:solidFill>
                <a:latin typeface="Calibri" pitchFamily="34" charset="0"/>
                <a:ea typeface="Calibri" pitchFamily="34" charset="-122"/>
                <a:cs typeface="Calibri" pitchFamily="34" charset="-120"/>
              </a:rPr>
              <a:t>Cada documento lleva solo sus campos y todos comparten la misma colección.</a:t>
            </a:r>
            <a:endParaRPr lang="en-US" sz="1800" dirty="0"/>
          </a:p>
        </p:txBody>
      </p:sp>
      <p:sp>
        <p:nvSpPr>
          <p:cNvPr id="22" name="Text 19"/>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03 / 12</a:t>
            </a:r>
            <a:endParaRPr lang="en-US" sz="1300" dirty="0"/>
          </a:p>
        </p:txBody>
      </p:sp>
      <p:sp>
        <p:nvSpPr>
          <p:cNvPr id="23" name="Text 20"/>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LA REGLA PARA MODELAR</a:t>
            </a:r>
            <a:endParaRPr lang="en-US" sz="3600" dirty="0"/>
          </a:p>
        </p:txBody>
      </p:sp>
      <p:sp>
        <p:nvSpPr>
          <p:cNvPr id="4" name="Text 2"/>
          <p:cNvSpPr/>
          <p:nvPr/>
        </p:nvSpPr>
        <p:spPr>
          <a:xfrm>
            <a:off x="777240" y="1005840"/>
            <a:ext cx="914400" cy="1188720"/>
          </a:xfrm>
          <a:prstGeom prst="rect">
            <a:avLst/>
          </a:prstGeom>
          <a:noFill/>
          <a:ln/>
        </p:spPr>
        <p:txBody>
          <a:bodyPr wrap="square" lIns="0" tIns="0" rIns="0" bIns="0" rtlCol="0" anchor="t"/>
          <a:lstStyle/>
          <a:p>
            <a:pPr indent="0" marL="0">
              <a:buNone/>
            </a:pPr>
            <a:r>
              <a:rPr lang="en-US" sz="12000" b="1" dirty="0">
                <a:solidFill>
                  <a:srgbClr val="00ED64"/>
                </a:solidFill>
                <a:latin typeface="Arial Narrow" pitchFamily="34" charset="0"/>
                <a:ea typeface="Arial Narrow" pitchFamily="34" charset="-122"/>
                <a:cs typeface="Arial Narrow" pitchFamily="34" charset="-120"/>
              </a:rPr>
              <a:t>“</a:t>
            </a:r>
            <a:endParaRPr lang="en-US" sz="12000" dirty="0"/>
          </a:p>
        </p:txBody>
      </p:sp>
      <p:sp>
        <p:nvSpPr>
          <p:cNvPr id="5" name="Text 3"/>
          <p:cNvSpPr/>
          <p:nvPr/>
        </p:nvSpPr>
        <p:spPr>
          <a:xfrm>
            <a:off x="1828800" y="1325880"/>
            <a:ext cx="9509760" cy="731520"/>
          </a:xfrm>
          <a:prstGeom prst="rect">
            <a:avLst/>
          </a:prstGeom>
          <a:noFill/>
          <a:ln/>
        </p:spPr>
        <p:txBody>
          <a:bodyPr wrap="square" lIns="0" tIns="0" rIns="0" bIns="0" rtlCol="0" anchor="ctr"/>
          <a:lstStyle/>
          <a:p>
            <a:pPr indent="0" marL="0">
              <a:buNone/>
            </a:pPr>
            <a:r>
              <a:rPr lang="en-US" sz="4200" dirty="0">
                <a:solidFill>
                  <a:srgbClr val="001E2B"/>
                </a:solidFill>
                <a:latin typeface="Calibri" pitchFamily="34" charset="0"/>
                <a:ea typeface="Calibri" pitchFamily="34" charset="-122"/>
                <a:cs typeface="Calibri" pitchFamily="34" charset="-120"/>
              </a:rPr>
              <a:t>Lo que se consulta </a:t>
            </a:r>
            <a:pPr indent="0" marL="0">
              <a:buNone/>
            </a:pPr>
            <a:r>
              <a:rPr lang="en-US" sz="4200" b="1" dirty="0">
                <a:solidFill>
                  <a:srgbClr val="00684A"/>
                </a:solidFill>
                <a:latin typeface="Calibri" pitchFamily="34" charset="0"/>
                <a:ea typeface="Calibri" pitchFamily="34" charset="-122"/>
                <a:cs typeface="Calibri" pitchFamily="34" charset="-120"/>
              </a:rPr>
              <a:t>junto</a:t>
            </a:r>
            <a:pPr indent="0" marL="0">
              <a:buNone/>
            </a:pPr>
            <a:r>
              <a:rPr lang="en-US" sz="4200" dirty="0">
                <a:solidFill>
                  <a:srgbClr val="001E2B"/>
                </a:solidFill>
                <a:latin typeface="Calibri" pitchFamily="34" charset="0"/>
                <a:ea typeface="Calibri" pitchFamily="34" charset="-122"/>
                <a:cs typeface="Calibri" pitchFamily="34" charset="-120"/>
              </a:rPr>
              <a:t>, se guarda junto.</a:t>
            </a:r>
            <a:endParaRPr lang="en-US" sz="4200" dirty="0"/>
          </a:p>
        </p:txBody>
      </p:sp>
      <p:sp>
        <p:nvSpPr>
          <p:cNvPr id="6" name="Text 4"/>
          <p:cNvSpPr/>
          <p:nvPr/>
        </p:nvSpPr>
        <p:spPr>
          <a:xfrm>
            <a:off x="1828800" y="2103120"/>
            <a:ext cx="9509760" cy="365760"/>
          </a:xfrm>
          <a:prstGeom prst="rect">
            <a:avLst/>
          </a:prstGeom>
          <a:noFill/>
          <a:ln/>
        </p:spPr>
        <p:txBody>
          <a:bodyPr wrap="square" lIns="0" tIns="0" rIns="0" bIns="0" rtlCol="0" anchor="t"/>
          <a:lstStyle/>
          <a:p>
            <a:pPr indent="0" marL="0">
              <a:buNone/>
            </a:pPr>
            <a:r>
              <a:rPr lang="en-US" sz="1600" dirty="0">
                <a:solidFill>
                  <a:srgbClr val="5C6C75"/>
                </a:solidFill>
                <a:latin typeface="Calibri" pitchFamily="34" charset="0"/>
                <a:ea typeface="Calibri" pitchFamily="34" charset="-122"/>
                <a:cs typeface="Calibri" pitchFamily="34" charset="-120"/>
              </a:rPr>
              <a:t>— MongoDB Docs, Data Modeling in MongoDB (traducción del equipo)</a:t>
            </a:r>
            <a:endParaRPr lang="en-US" sz="1600" dirty="0"/>
          </a:p>
        </p:txBody>
      </p:sp>
      <p:sp>
        <p:nvSpPr>
          <p:cNvPr id="7" name="Shape 5"/>
          <p:cNvSpPr/>
          <p:nvPr/>
        </p:nvSpPr>
        <p:spPr>
          <a:xfrm>
            <a:off x="822960" y="2880360"/>
            <a:ext cx="5134356" cy="3108960"/>
          </a:xfrm>
          <a:prstGeom prst="rect">
            <a:avLst/>
          </a:prstGeom>
          <a:solidFill>
            <a:srgbClr val="EBF5F2"/>
          </a:solidFill>
          <a:ln/>
        </p:spPr>
      </p:sp>
      <p:sp>
        <p:nvSpPr>
          <p:cNvPr id="8" name="Shape 6"/>
          <p:cNvSpPr/>
          <p:nvPr/>
        </p:nvSpPr>
        <p:spPr>
          <a:xfrm>
            <a:off x="822960" y="2880360"/>
            <a:ext cx="5134356" cy="64008"/>
          </a:xfrm>
          <a:prstGeom prst="rect">
            <a:avLst/>
          </a:prstGeom>
          <a:solidFill>
            <a:srgbClr val="00684A"/>
          </a:solidFill>
          <a:ln/>
        </p:spPr>
      </p:sp>
      <p:sp>
        <p:nvSpPr>
          <p:cNvPr id="9" name="Text 7"/>
          <p:cNvSpPr/>
          <p:nvPr/>
        </p:nvSpPr>
        <p:spPr>
          <a:xfrm>
            <a:off x="1097280" y="3136392"/>
            <a:ext cx="4585716" cy="384048"/>
          </a:xfrm>
          <a:prstGeom prst="rect">
            <a:avLst/>
          </a:prstGeom>
          <a:noFill/>
          <a:ln/>
        </p:spPr>
        <p:txBody>
          <a:bodyPr wrap="square" lIns="0" tIns="0" rIns="0" bIns="0" rtlCol="0" anchor="t"/>
          <a:lstStyle/>
          <a:p>
            <a:pPr indent="0" marL="0">
              <a:buNone/>
            </a:pPr>
            <a:r>
              <a:rPr lang="en-US" sz="2400" b="1" dirty="0">
                <a:solidFill>
                  <a:srgbClr val="00684A"/>
                </a:solidFill>
                <a:latin typeface="Arial Narrow" pitchFamily="34" charset="0"/>
                <a:ea typeface="Arial Narrow" pitchFamily="34" charset="-122"/>
                <a:cs typeface="Arial Narrow" pitchFamily="34" charset="-120"/>
              </a:rPr>
              <a:t>EMBEBER</a:t>
            </a:r>
            <a:endParaRPr lang="en-US" sz="2400" dirty="0"/>
          </a:p>
        </p:txBody>
      </p:sp>
      <p:sp>
        <p:nvSpPr>
          <p:cNvPr id="10" name="Text 8"/>
          <p:cNvSpPr/>
          <p:nvPr/>
        </p:nvSpPr>
        <p:spPr>
          <a:xfrm>
            <a:off x="1097280" y="3566160"/>
            <a:ext cx="4585716" cy="91440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Si siempre se leen juntos, el departamento va dentro del documento del empleado y llega en una sola consulta.</a:t>
            </a:r>
            <a:endParaRPr lang="en-US" sz="1800" dirty="0"/>
          </a:p>
        </p:txBody>
      </p:sp>
      <p:sp>
        <p:nvSpPr>
          <p:cNvPr id="11" name="Shape 9"/>
          <p:cNvSpPr/>
          <p:nvPr/>
        </p:nvSpPr>
        <p:spPr>
          <a:xfrm>
            <a:off x="6231636" y="2880360"/>
            <a:ext cx="5134356" cy="3108960"/>
          </a:xfrm>
          <a:prstGeom prst="rect">
            <a:avLst/>
          </a:prstGeom>
          <a:solidFill>
            <a:srgbClr val="EBF5F2"/>
          </a:solidFill>
          <a:ln/>
        </p:spPr>
      </p:sp>
      <p:sp>
        <p:nvSpPr>
          <p:cNvPr id="12" name="Shape 10"/>
          <p:cNvSpPr/>
          <p:nvPr/>
        </p:nvSpPr>
        <p:spPr>
          <a:xfrm>
            <a:off x="6231636" y="2880360"/>
            <a:ext cx="5134356" cy="64008"/>
          </a:xfrm>
          <a:prstGeom prst="rect">
            <a:avLst/>
          </a:prstGeom>
          <a:solidFill>
            <a:srgbClr val="00684A"/>
          </a:solidFill>
          <a:ln/>
        </p:spPr>
      </p:sp>
      <p:sp>
        <p:nvSpPr>
          <p:cNvPr id="13" name="Text 11"/>
          <p:cNvSpPr/>
          <p:nvPr/>
        </p:nvSpPr>
        <p:spPr>
          <a:xfrm>
            <a:off x="6505956" y="3136392"/>
            <a:ext cx="4585716" cy="384048"/>
          </a:xfrm>
          <a:prstGeom prst="rect">
            <a:avLst/>
          </a:prstGeom>
          <a:noFill/>
          <a:ln/>
        </p:spPr>
        <p:txBody>
          <a:bodyPr wrap="square" lIns="0" tIns="0" rIns="0" bIns="0" rtlCol="0" anchor="t"/>
          <a:lstStyle/>
          <a:p>
            <a:pPr indent="0" marL="0">
              <a:buNone/>
            </a:pPr>
            <a:r>
              <a:rPr lang="en-US" sz="2400" b="1" dirty="0">
                <a:solidFill>
                  <a:srgbClr val="00684A"/>
                </a:solidFill>
                <a:latin typeface="Arial Narrow" pitchFamily="34" charset="0"/>
                <a:ea typeface="Arial Narrow" pitchFamily="34" charset="-122"/>
                <a:cs typeface="Arial Narrow" pitchFamily="34" charset="-120"/>
              </a:rPr>
              <a:t>REFERENCIAR</a:t>
            </a:r>
            <a:endParaRPr lang="en-US" sz="2400" dirty="0"/>
          </a:p>
        </p:txBody>
      </p:sp>
      <p:sp>
        <p:nvSpPr>
          <p:cNvPr id="14" name="Text 12"/>
          <p:cNvSpPr/>
          <p:nvPr/>
        </p:nvSpPr>
        <p:spPr>
          <a:xfrm>
            <a:off x="6505956" y="3566160"/>
            <a:ext cx="4585716" cy="91440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Lo que se lee poco va aparte: el producto guarda sus 5 reseñas recientes y el resto vive en otra colección.</a:t>
            </a:r>
            <a:endParaRPr lang="en-US" sz="1800" dirty="0"/>
          </a:p>
        </p:txBody>
      </p:sp>
      <p:sp>
        <p:nvSpPr>
          <p:cNvPr id="15" name="Shape 13"/>
          <p:cNvSpPr/>
          <p:nvPr/>
        </p:nvSpPr>
        <p:spPr>
          <a:xfrm>
            <a:off x="1097280" y="4663440"/>
            <a:ext cx="3291840" cy="1051560"/>
          </a:xfrm>
          <a:prstGeom prst="roundRect">
            <a:avLst>
              <a:gd name="adj" fmla="val 6957"/>
            </a:avLst>
          </a:prstGeom>
          <a:solidFill>
            <a:srgbClr val="FFFFFF"/>
          </a:solidFill>
          <a:ln w="19050">
            <a:solidFill>
              <a:srgbClr val="00684A"/>
            </a:solidFill>
            <a:prstDash val="solid"/>
          </a:ln>
        </p:spPr>
      </p:sp>
      <p:sp>
        <p:nvSpPr>
          <p:cNvPr id="16" name="Text 14"/>
          <p:cNvSpPr/>
          <p:nvPr/>
        </p:nvSpPr>
        <p:spPr>
          <a:xfrm>
            <a:off x="1234440" y="4754880"/>
            <a:ext cx="1463040" cy="274320"/>
          </a:xfrm>
          <a:prstGeom prst="rect">
            <a:avLst/>
          </a:prstGeom>
          <a:noFill/>
          <a:ln/>
        </p:spPr>
        <p:txBody>
          <a:bodyPr wrap="square" lIns="0" tIns="0" rIns="0" bIns="0" rtlCol="0" anchor="t"/>
          <a:lstStyle/>
          <a:p>
            <a:pPr indent="0" marL="0">
              <a:buNone/>
            </a:pPr>
            <a:r>
              <a:rPr lang="en-US" sz="1400" dirty="0">
                <a:solidFill>
                  <a:srgbClr val="00684A"/>
                </a:solidFill>
                <a:latin typeface="Consolas" pitchFamily="34" charset="0"/>
                <a:ea typeface="Consolas" pitchFamily="34" charset="-122"/>
                <a:cs typeface="Consolas" pitchFamily="34" charset="-120"/>
              </a:rPr>
              <a:t>empleado</a:t>
            </a:r>
            <a:endParaRPr lang="en-US" sz="1400" dirty="0"/>
          </a:p>
        </p:txBody>
      </p:sp>
      <p:sp>
        <p:nvSpPr>
          <p:cNvPr id="17" name="Shape 15"/>
          <p:cNvSpPr/>
          <p:nvPr/>
        </p:nvSpPr>
        <p:spPr>
          <a:xfrm>
            <a:off x="2423160" y="5047488"/>
            <a:ext cx="1783080" cy="502920"/>
          </a:xfrm>
          <a:prstGeom prst="roundRect">
            <a:avLst>
              <a:gd name="adj" fmla="val 14545"/>
            </a:avLst>
          </a:prstGeom>
          <a:solidFill>
            <a:srgbClr val="00684A"/>
          </a:solidFill>
          <a:ln/>
        </p:spPr>
      </p:sp>
      <p:sp>
        <p:nvSpPr>
          <p:cNvPr id="18" name="Text 16"/>
          <p:cNvSpPr/>
          <p:nvPr/>
        </p:nvSpPr>
        <p:spPr>
          <a:xfrm>
            <a:off x="2423160" y="5047488"/>
            <a:ext cx="1783080" cy="502920"/>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departamento</a:t>
            </a:r>
            <a:endParaRPr lang="en-US" sz="1400" dirty="0"/>
          </a:p>
        </p:txBody>
      </p:sp>
      <p:sp>
        <p:nvSpPr>
          <p:cNvPr id="19" name="Shape 17"/>
          <p:cNvSpPr/>
          <p:nvPr/>
        </p:nvSpPr>
        <p:spPr>
          <a:xfrm>
            <a:off x="6505956" y="4663440"/>
            <a:ext cx="2240280" cy="1051560"/>
          </a:xfrm>
          <a:prstGeom prst="roundRect">
            <a:avLst>
              <a:gd name="adj" fmla="val 6957"/>
            </a:avLst>
          </a:prstGeom>
          <a:solidFill>
            <a:srgbClr val="FFFFFF"/>
          </a:solidFill>
          <a:ln w="19050">
            <a:solidFill>
              <a:srgbClr val="00684A"/>
            </a:solidFill>
            <a:prstDash val="solid"/>
          </a:ln>
        </p:spPr>
      </p:sp>
      <p:sp>
        <p:nvSpPr>
          <p:cNvPr id="20" name="Text 18"/>
          <p:cNvSpPr/>
          <p:nvPr/>
        </p:nvSpPr>
        <p:spPr>
          <a:xfrm>
            <a:off x="6643116" y="4754880"/>
            <a:ext cx="1920240" cy="274320"/>
          </a:xfrm>
          <a:prstGeom prst="rect">
            <a:avLst/>
          </a:prstGeom>
          <a:noFill/>
          <a:ln/>
        </p:spPr>
        <p:txBody>
          <a:bodyPr wrap="square" lIns="0" tIns="0" rIns="0" bIns="0" rtlCol="0" anchor="t"/>
          <a:lstStyle/>
          <a:p>
            <a:pPr indent="0" marL="0">
              <a:buNone/>
            </a:pPr>
            <a:r>
              <a:rPr lang="en-US" sz="1400" dirty="0">
                <a:solidFill>
                  <a:srgbClr val="00684A"/>
                </a:solidFill>
                <a:latin typeface="Consolas" pitchFamily="34" charset="0"/>
                <a:ea typeface="Consolas" pitchFamily="34" charset="-122"/>
                <a:cs typeface="Consolas" pitchFamily="34" charset="-120"/>
              </a:rPr>
              <a:t>producto</a:t>
            </a:r>
            <a:endParaRPr lang="en-US" sz="1400" dirty="0"/>
          </a:p>
        </p:txBody>
      </p:sp>
      <p:sp>
        <p:nvSpPr>
          <p:cNvPr id="21" name="Shape 19"/>
          <p:cNvSpPr/>
          <p:nvPr/>
        </p:nvSpPr>
        <p:spPr>
          <a:xfrm>
            <a:off x="6643116" y="5093208"/>
            <a:ext cx="1965960" cy="457200"/>
          </a:xfrm>
          <a:prstGeom prst="roundRect">
            <a:avLst>
              <a:gd name="adj" fmla="val 16000"/>
            </a:avLst>
          </a:prstGeom>
          <a:solidFill>
            <a:srgbClr val="00684A"/>
          </a:solidFill>
          <a:ln/>
        </p:spPr>
      </p:sp>
      <p:sp>
        <p:nvSpPr>
          <p:cNvPr id="22" name="Text 20"/>
          <p:cNvSpPr/>
          <p:nvPr/>
        </p:nvSpPr>
        <p:spPr>
          <a:xfrm>
            <a:off x="6643116" y="5093208"/>
            <a:ext cx="196596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5 recientes</a:t>
            </a:r>
            <a:endParaRPr lang="en-US" sz="1400" dirty="0"/>
          </a:p>
        </p:txBody>
      </p:sp>
      <p:sp>
        <p:nvSpPr>
          <p:cNvPr id="23" name="Shape 21"/>
          <p:cNvSpPr/>
          <p:nvPr/>
        </p:nvSpPr>
        <p:spPr>
          <a:xfrm>
            <a:off x="8746236" y="5189220"/>
            <a:ext cx="548640" cy="0"/>
          </a:xfrm>
          <a:prstGeom prst="line">
            <a:avLst/>
          </a:prstGeom>
          <a:noFill/>
          <a:ln w="19050">
            <a:solidFill>
              <a:srgbClr val="00684A"/>
            </a:solidFill>
            <a:prstDash val="solid"/>
            <a:tailEnd type="triangle"/>
          </a:ln>
        </p:spPr>
      </p:sp>
      <p:sp>
        <p:nvSpPr>
          <p:cNvPr id="24" name="Shape 22"/>
          <p:cNvSpPr/>
          <p:nvPr/>
        </p:nvSpPr>
        <p:spPr>
          <a:xfrm>
            <a:off x="9294876" y="4663440"/>
            <a:ext cx="1737360" cy="1051560"/>
          </a:xfrm>
          <a:prstGeom prst="roundRect">
            <a:avLst>
              <a:gd name="adj" fmla="val 6957"/>
            </a:avLst>
          </a:prstGeom>
          <a:solidFill>
            <a:srgbClr val="FFFFFF"/>
          </a:solidFill>
          <a:ln w="15875">
            <a:solidFill>
              <a:srgbClr val="5C6C75"/>
            </a:solidFill>
            <a:prstDash val="solid"/>
          </a:ln>
        </p:spPr>
      </p:sp>
      <p:sp>
        <p:nvSpPr>
          <p:cNvPr id="25" name="Text 23"/>
          <p:cNvSpPr/>
          <p:nvPr/>
        </p:nvSpPr>
        <p:spPr>
          <a:xfrm>
            <a:off x="9294876" y="4846320"/>
            <a:ext cx="1737360" cy="320040"/>
          </a:xfrm>
          <a:prstGeom prst="rect">
            <a:avLst/>
          </a:prstGeom>
          <a:noFill/>
          <a:ln/>
        </p:spPr>
        <p:txBody>
          <a:bodyPr wrap="square" lIns="0" tIns="0" rIns="0" bIns="0" rtlCol="0" anchor="t"/>
          <a:lstStyle/>
          <a:p>
            <a:pPr algn="ctr" indent="0" marL="0">
              <a:buNone/>
            </a:pPr>
            <a:r>
              <a:rPr lang="en-US" sz="1500" dirty="0">
                <a:solidFill>
                  <a:srgbClr val="001E2B"/>
                </a:solidFill>
                <a:latin typeface="Consolas" pitchFamily="34" charset="0"/>
                <a:ea typeface="Consolas" pitchFamily="34" charset="-122"/>
                <a:cs typeface="Consolas" pitchFamily="34" charset="-120"/>
              </a:rPr>
              <a:t>reseñas</a:t>
            </a:r>
            <a:endParaRPr lang="en-US" sz="1500" dirty="0"/>
          </a:p>
        </p:txBody>
      </p:sp>
      <p:sp>
        <p:nvSpPr>
          <p:cNvPr id="26" name="Text 24"/>
          <p:cNvSpPr/>
          <p:nvPr/>
        </p:nvSpPr>
        <p:spPr>
          <a:xfrm>
            <a:off x="9294876" y="5212080"/>
            <a:ext cx="1737360" cy="320040"/>
          </a:xfrm>
          <a:prstGeom prst="rect">
            <a:avLst/>
          </a:prstGeom>
          <a:noFill/>
          <a:ln/>
        </p:spPr>
        <p:txBody>
          <a:bodyPr wrap="square" lIns="0" tIns="0" rIns="0" bIns="0" rtlCol="0" anchor="t"/>
          <a:lstStyle/>
          <a:p>
            <a:pPr algn="ctr" indent="0" marL="0">
              <a:buNone/>
            </a:pPr>
            <a:r>
              <a:rPr lang="en-US" sz="1500" dirty="0">
                <a:solidFill>
                  <a:srgbClr val="5C6C75"/>
                </a:solidFill>
                <a:latin typeface="Calibri" pitchFamily="34" charset="0"/>
                <a:ea typeface="Calibri" pitchFamily="34" charset="-122"/>
                <a:cs typeface="Calibri" pitchFamily="34" charset="-120"/>
              </a:rPr>
              <a:t>otra colección</a:t>
            </a:r>
            <a:endParaRPr lang="en-US" sz="1500" dirty="0"/>
          </a:p>
        </p:txBody>
      </p:sp>
      <p:sp>
        <p:nvSpPr>
          <p:cNvPr id="27" name="Text 25"/>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04 / 12</a:t>
            </a:r>
            <a:endParaRPr lang="en-US" sz="1300" dirty="0"/>
          </a:p>
        </p:txBody>
      </p:sp>
      <p:sp>
        <p:nvSpPr>
          <p:cNvPr id="28" name="Text 26"/>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LAS PIEZAS CON LAS QUE SE TRABAJA</a:t>
            </a:r>
            <a:endParaRPr lang="en-US" sz="3600" dirty="0"/>
          </a:p>
        </p:txBody>
      </p:sp>
      <p:sp>
        <p:nvSpPr>
          <p:cNvPr id="4" name="Shape 2"/>
          <p:cNvSpPr/>
          <p:nvPr/>
        </p:nvSpPr>
        <p:spPr>
          <a:xfrm>
            <a:off x="822960" y="1371600"/>
            <a:ext cx="2606040" cy="4572000"/>
          </a:xfrm>
          <a:prstGeom prst="rect">
            <a:avLst/>
          </a:prstGeom>
          <a:solidFill>
            <a:srgbClr val="EBF5F2"/>
          </a:solidFill>
          <a:ln/>
        </p:spPr>
      </p:sp>
      <p:sp>
        <p:nvSpPr>
          <p:cNvPr id="5" name="Text 3"/>
          <p:cNvSpPr/>
          <p:nvPr/>
        </p:nvSpPr>
        <p:spPr>
          <a:xfrm>
            <a:off x="1051560" y="1645920"/>
            <a:ext cx="2148840" cy="411480"/>
          </a:xfrm>
          <a:prstGeom prst="rect">
            <a:avLst/>
          </a:prstGeom>
          <a:noFill/>
          <a:ln/>
        </p:spPr>
        <p:txBody>
          <a:bodyPr wrap="square" lIns="0" tIns="0" rIns="0" bIns="0" rtlCol="0" anchor="t"/>
          <a:lstStyle/>
          <a:p>
            <a:pPr indent="0" marL="0">
              <a:buNone/>
            </a:pPr>
            <a:r>
              <a:rPr lang="en-US" sz="2400" b="1" dirty="0">
                <a:solidFill>
                  <a:srgbClr val="00684A"/>
                </a:solidFill>
                <a:latin typeface="Arial Narrow" pitchFamily="34" charset="0"/>
                <a:ea typeface="Arial Narrow" pitchFamily="34" charset="-122"/>
                <a:cs typeface="Arial Narrow" pitchFamily="34" charset="-120"/>
              </a:rPr>
              <a:t>CLIENTE</a:t>
            </a:r>
            <a:endParaRPr lang="en-US" sz="2400" dirty="0"/>
          </a:p>
        </p:txBody>
      </p:sp>
      <p:sp>
        <p:nvSpPr>
          <p:cNvPr id="6" name="Text 4"/>
          <p:cNvSpPr/>
          <p:nvPr/>
        </p:nvSpPr>
        <p:spPr>
          <a:xfrm>
            <a:off x="1051560" y="2148840"/>
            <a:ext cx="2148840" cy="137160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La API en Node.js que recibe la petición y pide los datos.</a:t>
            </a:r>
            <a:endParaRPr lang="en-US" sz="1800" dirty="0"/>
          </a:p>
        </p:txBody>
      </p:sp>
      <p:sp>
        <p:nvSpPr>
          <p:cNvPr id="7" name="Shape 5"/>
          <p:cNvSpPr/>
          <p:nvPr/>
        </p:nvSpPr>
        <p:spPr>
          <a:xfrm>
            <a:off x="1051560" y="3246120"/>
            <a:ext cx="2148840" cy="457200"/>
          </a:xfrm>
          <a:prstGeom prst="roundRect">
            <a:avLst>
              <a:gd name="adj" fmla="val 16000"/>
            </a:avLst>
          </a:prstGeom>
          <a:solidFill>
            <a:srgbClr val="FFFFFF"/>
          </a:solidFill>
          <a:ln w="12700">
            <a:solidFill>
              <a:srgbClr val="D5DDE0"/>
            </a:solidFill>
            <a:prstDash val="solid"/>
          </a:ln>
        </p:spPr>
      </p:sp>
      <p:sp>
        <p:nvSpPr>
          <p:cNvPr id="8" name="Text 6"/>
          <p:cNvSpPr/>
          <p:nvPr/>
        </p:nvSpPr>
        <p:spPr>
          <a:xfrm>
            <a:off x="1051560" y="3246120"/>
            <a:ext cx="2148840" cy="457200"/>
          </a:xfrm>
          <a:prstGeom prst="rect">
            <a:avLst/>
          </a:prstGeom>
          <a:noFill/>
          <a:ln/>
        </p:spPr>
        <p:txBody>
          <a:bodyPr wrap="square" lIns="0" tIns="0" rIns="0" bIns="0" rtlCol="0" anchor="ctr"/>
          <a:lstStyle/>
          <a:p>
            <a:pPr algn="ctr" indent="0" marL="0">
              <a:buNone/>
            </a:pPr>
            <a:r>
              <a:rPr lang="en-US" sz="1200" dirty="0">
                <a:solidFill>
                  <a:srgbClr val="001E2B"/>
                </a:solidFill>
                <a:latin typeface="Consolas" pitchFamily="34" charset="0"/>
                <a:ea typeface="Consolas" pitchFamily="34" charset="-122"/>
                <a:cs typeface="Consolas" pitchFamily="34" charset="-120"/>
              </a:rPr>
              <a:t>GET /productos/:sku</a:t>
            </a:r>
            <a:endParaRPr lang="en-US" sz="1200" dirty="0"/>
          </a:p>
        </p:txBody>
      </p:sp>
      <p:sp>
        <p:nvSpPr>
          <p:cNvPr id="9" name="Shape 7"/>
          <p:cNvSpPr/>
          <p:nvPr/>
        </p:nvSpPr>
        <p:spPr>
          <a:xfrm>
            <a:off x="1051560" y="3886200"/>
            <a:ext cx="2148840" cy="457200"/>
          </a:xfrm>
          <a:prstGeom prst="roundRect">
            <a:avLst>
              <a:gd name="adj" fmla="val 16000"/>
            </a:avLst>
          </a:prstGeom>
          <a:solidFill>
            <a:srgbClr val="FFFFFF"/>
          </a:solidFill>
          <a:ln w="12700">
            <a:solidFill>
              <a:srgbClr val="D5DDE0"/>
            </a:solidFill>
            <a:prstDash val="solid"/>
          </a:ln>
        </p:spPr>
      </p:sp>
      <p:sp>
        <p:nvSpPr>
          <p:cNvPr id="10" name="Text 8"/>
          <p:cNvSpPr/>
          <p:nvPr/>
        </p:nvSpPr>
        <p:spPr>
          <a:xfrm>
            <a:off x="1051560" y="3886200"/>
            <a:ext cx="2148840" cy="457200"/>
          </a:xfrm>
          <a:prstGeom prst="rect">
            <a:avLst/>
          </a:prstGeom>
          <a:noFill/>
          <a:ln/>
        </p:spPr>
        <p:txBody>
          <a:bodyPr wrap="square" lIns="0" tIns="0" rIns="0" bIns="0" rtlCol="0" anchor="ctr"/>
          <a:lstStyle/>
          <a:p>
            <a:pPr algn="ctr" indent="0" marL="0">
              <a:buNone/>
            </a:pPr>
            <a:r>
              <a:rPr lang="en-US" sz="1200" dirty="0">
                <a:solidFill>
                  <a:srgbClr val="001E2B"/>
                </a:solidFill>
                <a:latin typeface="Consolas" pitchFamily="34" charset="0"/>
                <a:ea typeface="Consolas" pitchFamily="34" charset="-122"/>
                <a:cs typeface="Consolas" pitchFamily="34" charset="-120"/>
              </a:rPr>
              <a:t>POST /productos</a:t>
            </a:r>
            <a:endParaRPr lang="en-US" sz="1200" dirty="0"/>
          </a:p>
        </p:txBody>
      </p:sp>
      <p:sp>
        <p:nvSpPr>
          <p:cNvPr id="11" name="Shape 9"/>
          <p:cNvSpPr/>
          <p:nvPr/>
        </p:nvSpPr>
        <p:spPr>
          <a:xfrm>
            <a:off x="1051560" y="4526280"/>
            <a:ext cx="2148840" cy="457200"/>
          </a:xfrm>
          <a:prstGeom prst="roundRect">
            <a:avLst>
              <a:gd name="adj" fmla="val 16000"/>
            </a:avLst>
          </a:prstGeom>
          <a:solidFill>
            <a:srgbClr val="FFFFFF"/>
          </a:solidFill>
          <a:ln w="12700">
            <a:solidFill>
              <a:srgbClr val="D5DDE0"/>
            </a:solidFill>
            <a:prstDash val="solid"/>
          </a:ln>
        </p:spPr>
      </p:sp>
      <p:sp>
        <p:nvSpPr>
          <p:cNvPr id="12" name="Text 10"/>
          <p:cNvSpPr/>
          <p:nvPr/>
        </p:nvSpPr>
        <p:spPr>
          <a:xfrm>
            <a:off x="1051560" y="4526280"/>
            <a:ext cx="2148840" cy="457200"/>
          </a:xfrm>
          <a:prstGeom prst="rect">
            <a:avLst/>
          </a:prstGeom>
          <a:noFill/>
          <a:ln/>
        </p:spPr>
        <p:txBody>
          <a:bodyPr wrap="square" lIns="0" tIns="0" rIns="0" bIns="0" rtlCol="0" anchor="ctr"/>
          <a:lstStyle/>
          <a:p>
            <a:pPr algn="ctr" indent="0" marL="0">
              <a:buNone/>
            </a:pPr>
            <a:r>
              <a:rPr lang="en-US" sz="1200" dirty="0">
                <a:solidFill>
                  <a:srgbClr val="001E2B"/>
                </a:solidFill>
                <a:latin typeface="Consolas" pitchFamily="34" charset="0"/>
                <a:ea typeface="Consolas" pitchFamily="34" charset="-122"/>
                <a:cs typeface="Consolas" pitchFamily="34" charset="-120"/>
              </a:rPr>
              <a:t>PUT /productos/:sku</a:t>
            </a:r>
            <a:endParaRPr lang="en-US" sz="1200" dirty="0"/>
          </a:p>
        </p:txBody>
      </p:sp>
      <p:sp>
        <p:nvSpPr>
          <p:cNvPr id="13" name="Shape 11"/>
          <p:cNvSpPr/>
          <p:nvPr/>
        </p:nvSpPr>
        <p:spPr>
          <a:xfrm>
            <a:off x="1051560" y="5166360"/>
            <a:ext cx="2148840" cy="457200"/>
          </a:xfrm>
          <a:prstGeom prst="roundRect">
            <a:avLst>
              <a:gd name="adj" fmla="val 16000"/>
            </a:avLst>
          </a:prstGeom>
          <a:solidFill>
            <a:srgbClr val="FFFFFF"/>
          </a:solidFill>
          <a:ln w="12700">
            <a:solidFill>
              <a:srgbClr val="D5DDE0"/>
            </a:solidFill>
            <a:prstDash val="solid"/>
          </a:ln>
        </p:spPr>
      </p:sp>
      <p:sp>
        <p:nvSpPr>
          <p:cNvPr id="14" name="Text 12"/>
          <p:cNvSpPr/>
          <p:nvPr/>
        </p:nvSpPr>
        <p:spPr>
          <a:xfrm>
            <a:off x="1051560" y="5166360"/>
            <a:ext cx="2148840" cy="457200"/>
          </a:xfrm>
          <a:prstGeom prst="rect">
            <a:avLst/>
          </a:prstGeom>
          <a:noFill/>
          <a:ln/>
        </p:spPr>
        <p:txBody>
          <a:bodyPr wrap="square" lIns="0" tIns="0" rIns="0" bIns="0" rtlCol="0" anchor="ctr"/>
          <a:lstStyle/>
          <a:p>
            <a:pPr algn="ctr" indent="0" marL="0">
              <a:buNone/>
            </a:pPr>
            <a:r>
              <a:rPr lang="en-US" sz="1200" dirty="0">
                <a:solidFill>
                  <a:srgbClr val="001E2B"/>
                </a:solidFill>
                <a:latin typeface="Consolas" pitchFamily="34" charset="0"/>
                <a:ea typeface="Consolas" pitchFamily="34" charset="-122"/>
                <a:cs typeface="Consolas" pitchFamily="34" charset="-120"/>
              </a:rPr>
              <a:t>DELETE /productos/:sku</a:t>
            </a:r>
            <a:endParaRPr lang="en-US" sz="1200" dirty="0"/>
          </a:p>
        </p:txBody>
      </p:sp>
      <p:sp>
        <p:nvSpPr>
          <p:cNvPr id="15" name="Shape 13"/>
          <p:cNvSpPr/>
          <p:nvPr/>
        </p:nvSpPr>
        <p:spPr>
          <a:xfrm>
            <a:off x="3520440" y="2240280"/>
            <a:ext cx="457200" cy="411480"/>
          </a:xfrm>
          <a:prstGeom prst="rightArrow">
            <a:avLst/>
          </a:prstGeom>
          <a:solidFill>
            <a:srgbClr val="00684A"/>
          </a:solidFill>
          <a:ln/>
        </p:spPr>
      </p:sp>
      <p:sp>
        <p:nvSpPr>
          <p:cNvPr id="16" name="Shape 14"/>
          <p:cNvSpPr/>
          <p:nvPr/>
        </p:nvSpPr>
        <p:spPr>
          <a:xfrm>
            <a:off x="4069080" y="1371600"/>
            <a:ext cx="2606040" cy="2240280"/>
          </a:xfrm>
          <a:prstGeom prst="rect">
            <a:avLst/>
          </a:prstGeom>
          <a:solidFill>
            <a:srgbClr val="00684A"/>
          </a:solidFill>
          <a:ln/>
        </p:spPr>
      </p:sp>
      <p:sp>
        <p:nvSpPr>
          <p:cNvPr id="17" name="Text 15"/>
          <p:cNvSpPr/>
          <p:nvPr/>
        </p:nvSpPr>
        <p:spPr>
          <a:xfrm>
            <a:off x="4297680" y="1600200"/>
            <a:ext cx="2148840" cy="411480"/>
          </a:xfrm>
          <a:prstGeom prst="rect">
            <a:avLst/>
          </a:prstGeom>
          <a:noFill/>
          <a:ln/>
        </p:spPr>
        <p:txBody>
          <a:bodyPr wrap="square" lIns="0" tIns="0" rIns="0" bIns="0" rtlCol="0" anchor="t"/>
          <a:lstStyle/>
          <a:p>
            <a:pPr indent="0" marL="0">
              <a:buNone/>
            </a:pPr>
            <a:r>
              <a:rPr lang="en-US" sz="2400" b="1" dirty="0">
                <a:solidFill>
                  <a:srgbClr val="FFFFFF"/>
                </a:solidFill>
                <a:latin typeface="Arial Narrow" pitchFamily="34" charset="0"/>
                <a:ea typeface="Arial Narrow" pitchFamily="34" charset="-122"/>
                <a:cs typeface="Arial Narrow" pitchFamily="34" charset="-120"/>
              </a:rPr>
              <a:t>DRIVER</a:t>
            </a:r>
            <a:endParaRPr lang="en-US" sz="2400" dirty="0"/>
          </a:p>
        </p:txBody>
      </p:sp>
      <p:sp>
        <p:nvSpPr>
          <p:cNvPr id="18" name="Text 16"/>
          <p:cNvSpPr/>
          <p:nvPr/>
        </p:nvSpPr>
        <p:spPr>
          <a:xfrm>
            <a:off x="4297680" y="2057400"/>
            <a:ext cx="2148840" cy="9144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Librería que traduce el código en operaciones sobre MongoDB.</a:t>
            </a:r>
            <a:endParaRPr lang="en-US" sz="1700" dirty="0"/>
          </a:p>
        </p:txBody>
      </p:sp>
      <p:sp>
        <p:nvSpPr>
          <p:cNvPr id="19" name="Text 17"/>
          <p:cNvSpPr/>
          <p:nvPr/>
        </p:nvSpPr>
        <p:spPr>
          <a:xfrm>
            <a:off x="4297680" y="3108960"/>
            <a:ext cx="2148840" cy="320040"/>
          </a:xfrm>
          <a:prstGeom prst="rect">
            <a:avLst/>
          </a:prstGeom>
          <a:noFill/>
          <a:ln/>
        </p:spPr>
        <p:txBody>
          <a:bodyPr wrap="square" lIns="0" tIns="0" rIns="0" bIns="0" rtlCol="0" anchor="t"/>
          <a:lstStyle/>
          <a:p>
            <a:pPr indent="0" marL="0">
              <a:buNone/>
            </a:pPr>
            <a:r>
              <a:rPr lang="en-US" sz="1400" dirty="0">
                <a:solidFill>
                  <a:srgbClr val="B8D4CC"/>
                </a:solidFill>
                <a:latin typeface="Consolas" pitchFamily="34" charset="0"/>
                <a:ea typeface="Consolas" pitchFamily="34" charset="-122"/>
                <a:cs typeface="Consolas" pitchFamily="34" charset="-120"/>
              </a:rPr>
              <a:t>npm install mongodb</a:t>
            </a:r>
            <a:endParaRPr lang="en-US" sz="1400" dirty="0"/>
          </a:p>
        </p:txBody>
      </p:sp>
      <p:sp>
        <p:nvSpPr>
          <p:cNvPr id="20" name="Shape 18"/>
          <p:cNvSpPr/>
          <p:nvPr/>
        </p:nvSpPr>
        <p:spPr>
          <a:xfrm>
            <a:off x="4069080" y="4069080"/>
            <a:ext cx="2606040" cy="1874520"/>
          </a:xfrm>
          <a:prstGeom prst="rect">
            <a:avLst/>
          </a:prstGeom>
          <a:solidFill>
            <a:srgbClr val="FFFFFF"/>
          </a:solidFill>
          <a:ln w="19050">
            <a:solidFill>
              <a:srgbClr val="00684A"/>
            </a:solidFill>
            <a:prstDash val="solid"/>
          </a:ln>
        </p:spPr>
      </p:sp>
      <p:sp>
        <p:nvSpPr>
          <p:cNvPr id="21" name="Text 19"/>
          <p:cNvSpPr/>
          <p:nvPr/>
        </p:nvSpPr>
        <p:spPr>
          <a:xfrm>
            <a:off x="4297680" y="4270248"/>
            <a:ext cx="2148840" cy="384048"/>
          </a:xfrm>
          <a:prstGeom prst="rect">
            <a:avLst/>
          </a:prstGeom>
          <a:noFill/>
          <a:ln/>
        </p:spPr>
        <p:txBody>
          <a:bodyPr wrap="square" lIns="0" tIns="0" rIns="0" bIns="0" rtlCol="0" anchor="t"/>
          <a:lstStyle/>
          <a:p>
            <a:pPr indent="0" marL="0">
              <a:buNone/>
            </a:pPr>
            <a:r>
              <a:rPr lang="en-US" sz="2200" b="1" dirty="0">
                <a:solidFill>
                  <a:srgbClr val="00684A"/>
                </a:solidFill>
                <a:latin typeface="Arial Narrow" pitchFamily="34" charset="0"/>
                <a:ea typeface="Arial Narrow" pitchFamily="34" charset="-122"/>
                <a:cs typeface="Arial Narrow" pitchFamily="34" charset="-120"/>
              </a:rPr>
              <a:t>ARCHIVO .ENV</a:t>
            </a:r>
            <a:endParaRPr lang="en-US" sz="2200" dirty="0"/>
          </a:p>
        </p:txBody>
      </p:sp>
      <p:sp>
        <p:nvSpPr>
          <p:cNvPr id="22" name="Text 20"/>
          <p:cNvSpPr/>
          <p:nvPr/>
        </p:nvSpPr>
        <p:spPr>
          <a:xfrm>
            <a:off x="4297680" y="4690872"/>
            <a:ext cx="2148840" cy="822960"/>
          </a:xfrm>
          <a:prstGeom prst="rect">
            <a:avLst/>
          </a:prstGeom>
          <a:noFill/>
          <a:ln/>
        </p:spPr>
        <p:txBody>
          <a:bodyPr wrap="square" lIns="0" tIns="0" rIns="0" bIns="0" rtlCol="0" anchor="t"/>
          <a:lstStyle/>
          <a:p>
            <a:pPr indent="0" marL="0">
              <a:buNone/>
            </a:pPr>
            <a:r>
              <a:rPr lang="en-US" sz="1700" dirty="0">
                <a:solidFill>
                  <a:srgbClr val="1C2D38"/>
                </a:solidFill>
                <a:latin typeface="Calibri" pitchFamily="34" charset="0"/>
                <a:ea typeface="Calibri" pitchFamily="34" charset="-122"/>
                <a:cs typeface="Calibri" pitchFamily="34" charset="-120"/>
              </a:rPr>
              <a:t>Configuración: guarda la cadena de conexión fuera del código.</a:t>
            </a:r>
            <a:endParaRPr lang="en-US" sz="1700" dirty="0"/>
          </a:p>
        </p:txBody>
      </p:sp>
      <p:sp>
        <p:nvSpPr>
          <p:cNvPr id="23" name="Text 21"/>
          <p:cNvSpPr/>
          <p:nvPr/>
        </p:nvSpPr>
        <p:spPr>
          <a:xfrm>
            <a:off x="4297680" y="5532120"/>
            <a:ext cx="2240280" cy="274320"/>
          </a:xfrm>
          <a:prstGeom prst="rect">
            <a:avLst/>
          </a:prstGeom>
          <a:noFill/>
          <a:ln/>
        </p:spPr>
        <p:txBody>
          <a:bodyPr wrap="square" lIns="0" tIns="0" rIns="0" bIns="0" rtlCol="0" anchor="t"/>
          <a:lstStyle/>
          <a:p>
            <a:pPr indent="0" marL="0">
              <a:buNone/>
            </a:pPr>
            <a:r>
              <a:rPr lang="en-US" sz="1400" dirty="0">
                <a:solidFill>
                  <a:srgbClr val="5C6C75"/>
                </a:solidFill>
                <a:latin typeface="Consolas" pitchFamily="34" charset="0"/>
                <a:ea typeface="Consolas" pitchFamily="34" charset="-122"/>
                <a:cs typeface="Consolas" pitchFamily="34" charset="-120"/>
              </a:rPr>
              <a:t>MONGO_URI=…</a:t>
            </a:r>
            <a:endParaRPr lang="en-US" sz="1400" dirty="0"/>
          </a:p>
        </p:txBody>
      </p:sp>
      <p:sp>
        <p:nvSpPr>
          <p:cNvPr id="24" name="Shape 22"/>
          <p:cNvSpPr/>
          <p:nvPr/>
        </p:nvSpPr>
        <p:spPr>
          <a:xfrm>
            <a:off x="5372100" y="3648456"/>
            <a:ext cx="0" cy="384048"/>
          </a:xfrm>
          <a:prstGeom prst="line">
            <a:avLst/>
          </a:prstGeom>
          <a:noFill/>
          <a:ln w="25400">
            <a:solidFill>
              <a:srgbClr val="00684A"/>
            </a:solidFill>
            <a:prstDash val="solid"/>
            <a:headEnd type="triangle"/>
          </a:ln>
        </p:spPr>
      </p:sp>
      <p:sp>
        <p:nvSpPr>
          <p:cNvPr id="25" name="Shape 23"/>
          <p:cNvSpPr/>
          <p:nvPr/>
        </p:nvSpPr>
        <p:spPr>
          <a:xfrm>
            <a:off x="6766560" y="2240280"/>
            <a:ext cx="457200" cy="411480"/>
          </a:xfrm>
          <a:prstGeom prst="rightArrow">
            <a:avLst/>
          </a:prstGeom>
          <a:solidFill>
            <a:srgbClr val="00684A"/>
          </a:solidFill>
          <a:ln/>
        </p:spPr>
      </p:sp>
      <p:sp>
        <p:nvSpPr>
          <p:cNvPr id="26" name="Shape 24"/>
          <p:cNvSpPr/>
          <p:nvPr/>
        </p:nvSpPr>
        <p:spPr>
          <a:xfrm>
            <a:off x="7315200" y="1371600"/>
            <a:ext cx="4050792" cy="4572000"/>
          </a:xfrm>
          <a:prstGeom prst="rect">
            <a:avLst/>
          </a:prstGeom>
          <a:solidFill>
            <a:srgbClr val="001E2B"/>
          </a:solidFill>
          <a:ln/>
        </p:spPr>
      </p:sp>
      <p:sp>
        <p:nvSpPr>
          <p:cNvPr id="27" name="Text 25"/>
          <p:cNvSpPr/>
          <p:nvPr/>
        </p:nvSpPr>
        <p:spPr>
          <a:xfrm>
            <a:off x="7589520" y="1600200"/>
            <a:ext cx="3502152" cy="411480"/>
          </a:xfrm>
          <a:prstGeom prst="rect">
            <a:avLst/>
          </a:prstGeom>
          <a:noFill/>
          <a:ln/>
        </p:spPr>
        <p:txBody>
          <a:bodyPr wrap="square" lIns="0" tIns="0" rIns="0" bIns="0" rtlCol="0" anchor="t"/>
          <a:lstStyle/>
          <a:p>
            <a:pPr indent="0" marL="0">
              <a:buNone/>
            </a:pPr>
            <a:r>
              <a:rPr lang="en-US" sz="2400" b="1" dirty="0">
                <a:solidFill>
                  <a:srgbClr val="FFFFFF"/>
                </a:solidFill>
                <a:latin typeface="Arial Narrow" pitchFamily="34" charset="0"/>
                <a:ea typeface="Arial Narrow" pitchFamily="34" charset="-122"/>
                <a:cs typeface="Arial Narrow" pitchFamily="34" charset="-120"/>
              </a:rPr>
              <a:t>MONGODB ATLAS</a:t>
            </a:r>
            <a:endParaRPr lang="en-US" sz="2400" dirty="0"/>
          </a:p>
        </p:txBody>
      </p:sp>
      <p:sp>
        <p:nvSpPr>
          <p:cNvPr id="28" name="Text 26"/>
          <p:cNvSpPr/>
          <p:nvPr/>
        </p:nvSpPr>
        <p:spPr>
          <a:xfrm>
            <a:off x="7589520" y="2057400"/>
            <a:ext cx="3502152" cy="685800"/>
          </a:xfrm>
          <a:prstGeom prst="rect">
            <a:avLst/>
          </a:prstGeom>
          <a:noFill/>
          <a:ln/>
        </p:spPr>
        <p:txBody>
          <a:bodyPr wrap="square" lIns="0" tIns="0" rIns="0" bIns="0" rtlCol="0" anchor="t"/>
          <a:lstStyle/>
          <a:p>
            <a:pPr indent="0" marL="0">
              <a:buNone/>
            </a:pPr>
            <a:r>
              <a:rPr lang="en-US" sz="1700" dirty="0">
                <a:solidFill>
                  <a:srgbClr val="B8D4CC"/>
                </a:solidFill>
                <a:latin typeface="Calibri" pitchFamily="34" charset="0"/>
                <a:ea typeface="Calibri" pitchFamily="34" charset="-122"/>
                <a:cs typeface="Calibri" pitchFamily="34" charset="-120"/>
              </a:rPr>
              <a:t>Servicio en la nube que aloja y administra el servidor.</a:t>
            </a:r>
            <a:endParaRPr lang="en-US" sz="1700" dirty="0"/>
          </a:p>
        </p:txBody>
      </p:sp>
      <p:sp>
        <p:nvSpPr>
          <p:cNvPr id="29" name="Shape 27"/>
          <p:cNvSpPr/>
          <p:nvPr/>
        </p:nvSpPr>
        <p:spPr>
          <a:xfrm>
            <a:off x="7589520" y="2788920"/>
            <a:ext cx="3502152" cy="2880360"/>
          </a:xfrm>
          <a:prstGeom prst="rect">
            <a:avLst/>
          </a:prstGeom>
          <a:ln w="15875">
            <a:solidFill>
              <a:srgbClr val="7FA39A"/>
            </a:solidFill>
            <a:prstDash val="solid"/>
          </a:ln>
        </p:spPr>
      </p:sp>
      <p:sp>
        <p:nvSpPr>
          <p:cNvPr id="30" name="Text 28"/>
          <p:cNvSpPr/>
          <p:nvPr/>
        </p:nvSpPr>
        <p:spPr>
          <a:xfrm>
            <a:off x="7726680" y="2862072"/>
            <a:ext cx="2743200" cy="274320"/>
          </a:xfrm>
          <a:prstGeom prst="rect">
            <a:avLst/>
          </a:prstGeom>
          <a:noFill/>
          <a:ln/>
        </p:spPr>
        <p:txBody>
          <a:bodyPr wrap="square" lIns="0" tIns="0" rIns="0" bIns="0" rtlCol="0" anchor="t"/>
          <a:lstStyle/>
          <a:p>
            <a:pPr indent="0" marL="0">
              <a:buNone/>
            </a:pPr>
            <a:r>
              <a:rPr lang="en-US" sz="1400" dirty="0">
                <a:solidFill>
                  <a:srgbClr val="B8D4CC"/>
                </a:solidFill>
                <a:latin typeface="Consolas" pitchFamily="34" charset="0"/>
                <a:ea typeface="Consolas" pitchFamily="34" charset="-122"/>
                <a:cs typeface="Consolas" pitchFamily="34" charset="-120"/>
              </a:rPr>
              <a:t>base · tienda</a:t>
            </a:r>
            <a:endParaRPr lang="en-US" sz="1400" dirty="0"/>
          </a:p>
        </p:txBody>
      </p:sp>
      <p:sp>
        <p:nvSpPr>
          <p:cNvPr id="31" name="Shape 29"/>
          <p:cNvSpPr/>
          <p:nvPr/>
        </p:nvSpPr>
        <p:spPr>
          <a:xfrm>
            <a:off x="7818120" y="3246120"/>
            <a:ext cx="3044952" cy="2194560"/>
          </a:xfrm>
          <a:prstGeom prst="rect">
            <a:avLst/>
          </a:prstGeom>
          <a:ln w="15875">
            <a:solidFill>
              <a:srgbClr val="B8D4CC"/>
            </a:solidFill>
            <a:prstDash val="solid"/>
          </a:ln>
        </p:spPr>
      </p:sp>
      <p:sp>
        <p:nvSpPr>
          <p:cNvPr id="32" name="Text 30"/>
          <p:cNvSpPr/>
          <p:nvPr/>
        </p:nvSpPr>
        <p:spPr>
          <a:xfrm>
            <a:off x="7955280" y="3319272"/>
            <a:ext cx="2926080" cy="274320"/>
          </a:xfrm>
          <a:prstGeom prst="rect">
            <a:avLst/>
          </a:prstGeom>
          <a:noFill/>
          <a:ln/>
        </p:spPr>
        <p:txBody>
          <a:bodyPr wrap="square" lIns="0" tIns="0" rIns="0" bIns="0" rtlCol="0" anchor="t"/>
          <a:lstStyle/>
          <a:p>
            <a:pPr indent="0" marL="0">
              <a:buNone/>
            </a:pPr>
            <a:r>
              <a:rPr lang="en-US" sz="1400" dirty="0">
                <a:solidFill>
                  <a:srgbClr val="B8D4CC"/>
                </a:solidFill>
                <a:latin typeface="Consolas" pitchFamily="34" charset="0"/>
                <a:ea typeface="Consolas" pitchFamily="34" charset="-122"/>
                <a:cs typeface="Consolas" pitchFamily="34" charset="-120"/>
              </a:rPr>
              <a:t>colección · productos</a:t>
            </a:r>
            <a:endParaRPr lang="en-US" sz="1400" dirty="0"/>
          </a:p>
        </p:txBody>
      </p:sp>
      <p:sp>
        <p:nvSpPr>
          <p:cNvPr id="33" name="Shape 31"/>
          <p:cNvSpPr/>
          <p:nvPr/>
        </p:nvSpPr>
        <p:spPr>
          <a:xfrm>
            <a:off x="8046720" y="3721608"/>
            <a:ext cx="2587752" cy="1417320"/>
          </a:xfrm>
          <a:prstGeom prst="rect">
            <a:avLst/>
          </a:prstGeom>
          <a:solidFill>
            <a:srgbClr val="00ED64"/>
          </a:solidFill>
          <a:ln/>
        </p:spPr>
      </p:sp>
      <p:sp>
        <p:nvSpPr>
          <p:cNvPr id="34" name="Text 32"/>
          <p:cNvSpPr/>
          <p:nvPr/>
        </p:nvSpPr>
        <p:spPr>
          <a:xfrm>
            <a:off x="8229600" y="3721608"/>
            <a:ext cx="2221992" cy="1417320"/>
          </a:xfrm>
          <a:prstGeom prst="rect">
            <a:avLst/>
          </a:prstGeom>
          <a:noFill/>
          <a:ln/>
        </p:spPr>
        <p:txBody>
          <a:bodyPr wrap="square" lIns="0" tIns="0" rIns="0" bIns="0" rtlCol="0" anchor="ctr"/>
          <a:lstStyle/>
          <a:p>
            <a:pPr indent="0" marL="0">
              <a:buNone/>
            </a:pPr>
            <a:r>
              <a:rPr lang="en-US" sz="1500" b="1" dirty="0">
                <a:solidFill>
                  <a:srgbClr val="001E2B"/>
                </a:solidFill>
                <a:latin typeface="Calibri" pitchFamily="34" charset="0"/>
                <a:ea typeface="Calibri" pitchFamily="34" charset="-122"/>
                <a:cs typeface="Calibri" pitchFamily="34" charset="-120"/>
              </a:rPr>
              <a:t>documento</a:t>
            </a:r>
            <a:endParaRPr lang="en-US" sz="1500" dirty="0"/>
          </a:p>
          <a:p>
            <a:pPr indent="0" marL="0">
              <a:buNone/>
            </a:pPr>
            <a:r>
              <a:rPr lang="en-US" sz="1500" dirty="0">
                <a:solidFill>
                  <a:srgbClr val="001E2B"/>
                </a:solidFill>
                <a:latin typeface="Consolas" pitchFamily="34" charset="0"/>
                <a:ea typeface="Consolas" pitchFamily="34" charset="-122"/>
                <a:cs typeface="Consolas" pitchFamily="34" charset="-120"/>
              </a:rPr>
              <a:t>{ sku: "PLY-01",</a:t>
            </a:r>
            <a:endParaRPr lang="en-US" sz="1500" dirty="0"/>
          </a:p>
          <a:p>
            <a:pPr indent="0" marL="0">
              <a:buNone/>
            </a:pPr>
            <a:r>
              <a:rPr lang="en-US" sz="1500" dirty="0">
                <a:solidFill>
                  <a:srgbClr val="001E2B"/>
                </a:solidFill>
                <a:latin typeface="Consolas" pitchFamily="34" charset="0"/>
                <a:ea typeface="Consolas" pitchFamily="34" charset="-122"/>
                <a:cs typeface="Consolas" pitchFamily="34" charset="-120"/>
              </a:rPr>
              <a:t>  precio: 199 }</a:t>
            </a:r>
            <a:endParaRPr lang="en-US" sz="1500" dirty="0"/>
          </a:p>
        </p:txBody>
      </p:sp>
      <p:sp>
        <p:nvSpPr>
          <p:cNvPr id="35" name="Text 33"/>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05 / 12</a:t>
            </a:r>
            <a:endParaRPr lang="en-US" sz="1300" dirty="0"/>
          </a:p>
        </p:txBody>
      </p:sp>
      <p:sp>
        <p:nvSpPr>
          <p:cNvPr id="36" name="Text 34"/>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CÓMO SE USA, EN CINCO PASOS</a:t>
            </a:r>
            <a:endParaRPr lang="en-US" sz="3600" dirty="0"/>
          </a:p>
        </p:txBody>
      </p:sp>
      <p:sp>
        <p:nvSpPr>
          <p:cNvPr id="4" name="Shape 2"/>
          <p:cNvSpPr/>
          <p:nvPr/>
        </p:nvSpPr>
        <p:spPr>
          <a:xfrm>
            <a:off x="1783080" y="2331720"/>
            <a:ext cx="8622792" cy="0"/>
          </a:xfrm>
          <a:prstGeom prst="line">
            <a:avLst/>
          </a:prstGeom>
          <a:noFill/>
          <a:ln w="25400">
            <a:solidFill>
              <a:srgbClr val="00684A"/>
            </a:solidFill>
            <a:prstDash val="solid"/>
          </a:ln>
        </p:spPr>
      </p:sp>
      <p:sp>
        <p:nvSpPr>
          <p:cNvPr id="5" name="Text 3"/>
          <p:cNvSpPr/>
          <p:nvPr/>
        </p:nvSpPr>
        <p:spPr>
          <a:xfrm>
            <a:off x="754380" y="1325880"/>
            <a:ext cx="2057400" cy="640080"/>
          </a:xfrm>
          <a:prstGeom prst="rect">
            <a:avLst/>
          </a:prstGeom>
          <a:noFill/>
          <a:ln/>
        </p:spPr>
        <p:txBody>
          <a:bodyPr wrap="square" lIns="0" tIns="0" rIns="0" bIns="0" rtlCol="0" anchor="b"/>
          <a:lstStyle/>
          <a:p>
            <a:pPr algn="ctr" indent="0" marL="0">
              <a:buNone/>
            </a:pPr>
            <a:r>
              <a:rPr lang="en-US" sz="3400" b="1" dirty="0">
                <a:solidFill>
                  <a:srgbClr val="00684A"/>
                </a:solidFill>
                <a:latin typeface="Arial Narrow" pitchFamily="34" charset="0"/>
                <a:ea typeface="Arial Narrow" pitchFamily="34" charset="-122"/>
                <a:cs typeface="Arial Narrow" pitchFamily="34" charset="-120"/>
              </a:rPr>
              <a:t>01</a:t>
            </a:r>
            <a:endParaRPr lang="en-US" sz="3400" dirty="0"/>
          </a:p>
        </p:txBody>
      </p:sp>
      <p:sp>
        <p:nvSpPr>
          <p:cNvPr id="6" name="Shape 4"/>
          <p:cNvSpPr/>
          <p:nvPr/>
        </p:nvSpPr>
        <p:spPr>
          <a:xfrm>
            <a:off x="1618488" y="2167128"/>
            <a:ext cx="329184" cy="329184"/>
          </a:xfrm>
          <a:prstGeom prst="ellipse">
            <a:avLst/>
          </a:prstGeom>
          <a:solidFill>
            <a:srgbClr val="FFFFFF"/>
          </a:solidFill>
          <a:ln w="38100">
            <a:solidFill>
              <a:srgbClr val="00684A"/>
            </a:solidFill>
            <a:prstDash val="solid"/>
          </a:ln>
        </p:spPr>
      </p:sp>
      <p:sp>
        <p:nvSpPr>
          <p:cNvPr id="7" name="Text 5"/>
          <p:cNvSpPr/>
          <p:nvPr/>
        </p:nvSpPr>
        <p:spPr>
          <a:xfrm>
            <a:off x="754380" y="2697480"/>
            <a:ext cx="2057400" cy="411480"/>
          </a:xfrm>
          <a:prstGeom prst="rect">
            <a:avLst/>
          </a:prstGeom>
          <a:noFill/>
          <a:ln/>
        </p:spPr>
        <p:txBody>
          <a:bodyPr wrap="square" lIns="0" tIns="0" rIns="0" bIns="0" rtlCol="0" anchor="t"/>
          <a:lstStyle/>
          <a:p>
            <a:pPr algn="ctr" indent="0" marL="0">
              <a:buNone/>
            </a:pPr>
            <a:r>
              <a:rPr lang="en-US" sz="2200" b="1" dirty="0">
                <a:solidFill>
                  <a:srgbClr val="001E2B"/>
                </a:solidFill>
                <a:latin typeface="Arial Narrow" pitchFamily="34" charset="0"/>
                <a:ea typeface="Arial Narrow" pitchFamily="34" charset="-122"/>
                <a:cs typeface="Arial Narrow" pitchFamily="34" charset="-120"/>
              </a:rPr>
              <a:t>CLUSTER</a:t>
            </a:r>
            <a:endParaRPr lang="en-US" sz="2200" dirty="0"/>
          </a:p>
        </p:txBody>
      </p:sp>
      <p:sp>
        <p:nvSpPr>
          <p:cNvPr id="8" name="Text 6"/>
          <p:cNvSpPr/>
          <p:nvPr/>
        </p:nvSpPr>
        <p:spPr>
          <a:xfrm>
            <a:off x="754380" y="3154680"/>
            <a:ext cx="2057400" cy="1371600"/>
          </a:xfrm>
          <a:prstGeom prst="rect">
            <a:avLst/>
          </a:prstGeom>
          <a:noFill/>
          <a:ln/>
        </p:spPr>
        <p:txBody>
          <a:bodyPr wrap="square" lIns="0" tIns="0" rIns="0" bIns="0" rtlCol="0" anchor="t"/>
          <a:lstStyle/>
          <a:p>
            <a:pPr algn="ctr" indent="0" marL="0">
              <a:buNone/>
            </a:pPr>
            <a:r>
              <a:rPr lang="en-US" sz="1800" dirty="0">
                <a:solidFill>
                  <a:srgbClr val="5C6C75"/>
                </a:solidFill>
                <a:latin typeface="Calibri" pitchFamily="34" charset="0"/>
                <a:ea typeface="Calibri" pitchFamily="34" charset="-122"/>
                <a:cs typeface="Calibri" pitchFamily="34" charset="-120"/>
              </a:rPr>
              <a:t>Crear un cluster gratuito en MongoDB Atlas.</a:t>
            </a:r>
            <a:endParaRPr lang="en-US" sz="1800" dirty="0"/>
          </a:p>
        </p:txBody>
      </p:sp>
      <p:sp>
        <p:nvSpPr>
          <p:cNvPr id="9" name="Text 7"/>
          <p:cNvSpPr/>
          <p:nvPr/>
        </p:nvSpPr>
        <p:spPr>
          <a:xfrm>
            <a:off x="2910078" y="1325880"/>
            <a:ext cx="2057400" cy="640080"/>
          </a:xfrm>
          <a:prstGeom prst="rect">
            <a:avLst/>
          </a:prstGeom>
          <a:noFill/>
          <a:ln/>
        </p:spPr>
        <p:txBody>
          <a:bodyPr wrap="square" lIns="0" tIns="0" rIns="0" bIns="0" rtlCol="0" anchor="b"/>
          <a:lstStyle/>
          <a:p>
            <a:pPr algn="ctr" indent="0" marL="0">
              <a:buNone/>
            </a:pPr>
            <a:r>
              <a:rPr lang="en-US" sz="3400" b="1" dirty="0">
                <a:solidFill>
                  <a:srgbClr val="00684A"/>
                </a:solidFill>
                <a:latin typeface="Arial Narrow" pitchFamily="34" charset="0"/>
                <a:ea typeface="Arial Narrow" pitchFamily="34" charset="-122"/>
                <a:cs typeface="Arial Narrow" pitchFamily="34" charset="-120"/>
              </a:rPr>
              <a:t>02</a:t>
            </a:r>
            <a:endParaRPr lang="en-US" sz="3400" dirty="0"/>
          </a:p>
        </p:txBody>
      </p:sp>
      <p:sp>
        <p:nvSpPr>
          <p:cNvPr id="10" name="Shape 8"/>
          <p:cNvSpPr/>
          <p:nvPr/>
        </p:nvSpPr>
        <p:spPr>
          <a:xfrm>
            <a:off x="3774186" y="2167128"/>
            <a:ext cx="329184" cy="329184"/>
          </a:xfrm>
          <a:prstGeom prst="ellipse">
            <a:avLst/>
          </a:prstGeom>
          <a:solidFill>
            <a:srgbClr val="FFFFFF"/>
          </a:solidFill>
          <a:ln w="38100">
            <a:solidFill>
              <a:srgbClr val="00684A"/>
            </a:solidFill>
            <a:prstDash val="solid"/>
          </a:ln>
        </p:spPr>
      </p:sp>
      <p:sp>
        <p:nvSpPr>
          <p:cNvPr id="11" name="Text 9"/>
          <p:cNvSpPr/>
          <p:nvPr/>
        </p:nvSpPr>
        <p:spPr>
          <a:xfrm>
            <a:off x="2910078" y="2697480"/>
            <a:ext cx="2057400" cy="411480"/>
          </a:xfrm>
          <a:prstGeom prst="rect">
            <a:avLst/>
          </a:prstGeom>
          <a:noFill/>
          <a:ln/>
        </p:spPr>
        <p:txBody>
          <a:bodyPr wrap="square" lIns="0" tIns="0" rIns="0" bIns="0" rtlCol="0" anchor="t"/>
          <a:lstStyle/>
          <a:p>
            <a:pPr algn="ctr" indent="0" marL="0">
              <a:buNone/>
            </a:pPr>
            <a:r>
              <a:rPr lang="en-US" sz="2200" b="1" dirty="0">
                <a:solidFill>
                  <a:srgbClr val="001E2B"/>
                </a:solidFill>
                <a:latin typeface="Arial Narrow" pitchFamily="34" charset="0"/>
                <a:ea typeface="Arial Narrow" pitchFamily="34" charset="-122"/>
                <a:cs typeface="Arial Narrow" pitchFamily="34" charset="-120"/>
              </a:rPr>
              <a:t>USUARIO</a:t>
            </a:r>
            <a:endParaRPr lang="en-US" sz="2200" dirty="0"/>
          </a:p>
        </p:txBody>
      </p:sp>
      <p:sp>
        <p:nvSpPr>
          <p:cNvPr id="12" name="Text 10"/>
          <p:cNvSpPr/>
          <p:nvPr/>
        </p:nvSpPr>
        <p:spPr>
          <a:xfrm>
            <a:off x="2910078" y="3154680"/>
            <a:ext cx="2057400" cy="1371600"/>
          </a:xfrm>
          <a:prstGeom prst="rect">
            <a:avLst/>
          </a:prstGeom>
          <a:noFill/>
          <a:ln/>
        </p:spPr>
        <p:txBody>
          <a:bodyPr wrap="square" lIns="0" tIns="0" rIns="0" bIns="0" rtlCol="0" anchor="t"/>
          <a:lstStyle/>
          <a:p>
            <a:pPr algn="ctr" indent="0" marL="0">
              <a:buNone/>
            </a:pPr>
            <a:r>
              <a:rPr lang="en-US" sz="1800" dirty="0">
                <a:solidFill>
                  <a:srgbClr val="5C6C75"/>
                </a:solidFill>
                <a:latin typeface="Calibri" pitchFamily="34" charset="0"/>
                <a:ea typeface="Calibri" pitchFamily="34" charset="-122"/>
                <a:cs typeface="Calibri" pitchFamily="34" charset="-120"/>
              </a:rPr>
              <a:t>Crear el usuario de la base y guardar su contraseña.</a:t>
            </a:r>
            <a:endParaRPr lang="en-US" sz="1800" dirty="0"/>
          </a:p>
        </p:txBody>
      </p:sp>
      <p:sp>
        <p:nvSpPr>
          <p:cNvPr id="13" name="Text 11"/>
          <p:cNvSpPr/>
          <p:nvPr/>
        </p:nvSpPr>
        <p:spPr>
          <a:xfrm>
            <a:off x="5065776" y="1325880"/>
            <a:ext cx="2057400" cy="640080"/>
          </a:xfrm>
          <a:prstGeom prst="rect">
            <a:avLst/>
          </a:prstGeom>
          <a:noFill/>
          <a:ln/>
        </p:spPr>
        <p:txBody>
          <a:bodyPr wrap="square" lIns="0" tIns="0" rIns="0" bIns="0" rtlCol="0" anchor="b"/>
          <a:lstStyle/>
          <a:p>
            <a:pPr algn="ctr" indent="0" marL="0">
              <a:buNone/>
            </a:pPr>
            <a:r>
              <a:rPr lang="en-US" sz="3400" b="1" dirty="0">
                <a:solidFill>
                  <a:srgbClr val="00684A"/>
                </a:solidFill>
                <a:latin typeface="Arial Narrow" pitchFamily="34" charset="0"/>
                <a:ea typeface="Arial Narrow" pitchFamily="34" charset="-122"/>
                <a:cs typeface="Arial Narrow" pitchFamily="34" charset="-120"/>
              </a:rPr>
              <a:t>03</a:t>
            </a:r>
            <a:endParaRPr lang="en-US" sz="3400" dirty="0"/>
          </a:p>
        </p:txBody>
      </p:sp>
      <p:sp>
        <p:nvSpPr>
          <p:cNvPr id="14" name="Shape 12"/>
          <p:cNvSpPr/>
          <p:nvPr/>
        </p:nvSpPr>
        <p:spPr>
          <a:xfrm>
            <a:off x="5929884" y="2167128"/>
            <a:ext cx="329184" cy="329184"/>
          </a:xfrm>
          <a:prstGeom prst="ellipse">
            <a:avLst/>
          </a:prstGeom>
          <a:solidFill>
            <a:srgbClr val="FFFFFF"/>
          </a:solidFill>
          <a:ln w="38100">
            <a:solidFill>
              <a:srgbClr val="00684A"/>
            </a:solidFill>
            <a:prstDash val="solid"/>
          </a:ln>
        </p:spPr>
      </p:sp>
      <p:sp>
        <p:nvSpPr>
          <p:cNvPr id="15" name="Text 13"/>
          <p:cNvSpPr/>
          <p:nvPr/>
        </p:nvSpPr>
        <p:spPr>
          <a:xfrm>
            <a:off x="5065776" y="2697480"/>
            <a:ext cx="2057400" cy="411480"/>
          </a:xfrm>
          <a:prstGeom prst="rect">
            <a:avLst/>
          </a:prstGeom>
          <a:noFill/>
          <a:ln/>
        </p:spPr>
        <p:txBody>
          <a:bodyPr wrap="square" lIns="0" tIns="0" rIns="0" bIns="0" rtlCol="0" anchor="t"/>
          <a:lstStyle/>
          <a:p>
            <a:pPr algn="ctr" indent="0" marL="0">
              <a:buNone/>
            </a:pPr>
            <a:r>
              <a:rPr lang="en-US" sz="2200" b="1" dirty="0">
                <a:solidFill>
                  <a:srgbClr val="001E2B"/>
                </a:solidFill>
                <a:latin typeface="Arial Narrow" pitchFamily="34" charset="0"/>
                <a:ea typeface="Arial Narrow" pitchFamily="34" charset="-122"/>
                <a:cs typeface="Arial Narrow" pitchFamily="34" charset="-120"/>
              </a:rPr>
              <a:t>CADENA</a:t>
            </a:r>
            <a:endParaRPr lang="en-US" sz="2200" dirty="0"/>
          </a:p>
        </p:txBody>
      </p:sp>
      <p:sp>
        <p:nvSpPr>
          <p:cNvPr id="16" name="Text 14"/>
          <p:cNvSpPr/>
          <p:nvPr/>
        </p:nvSpPr>
        <p:spPr>
          <a:xfrm>
            <a:off x="5065776" y="3154680"/>
            <a:ext cx="2057400" cy="1371600"/>
          </a:xfrm>
          <a:prstGeom prst="rect">
            <a:avLst/>
          </a:prstGeom>
          <a:noFill/>
          <a:ln/>
        </p:spPr>
        <p:txBody>
          <a:bodyPr wrap="square" lIns="0" tIns="0" rIns="0" bIns="0" rtlCol="0" anchor="t"/>
          <a:lstStyle/>
          <a:p>
            <a:pPr algn="ctr" indent="0" marL="0">
              <a:buNone/>
            </a:pPr>
            <a:r>
              <a:rPr lang="en-US" sz="1800" dirty="0">
                <a:solidFill>
                  <a:srgbClr val="5C6C75"/>
                </a:solidFill>
                <a:latin typeface="Calibri" pitchFamily="34" charset="0"/>
                <a:ea typeface="Calibri" pitchFamily="34" charset="-122"/>
                <a:cs typeface="Calibri" pitchFamily="34" charset="-120"/>
              </a:rPr>
              <a:t>Copiar la cadena de conexión y cambiar &lt;db_password&gt;.</a:t>
            </a:r>
            <a:endParaRPr lang="en-US" sz="1800" dirty="0"/>
          </a:p>
        </p:txBody>
      </p:sp>
      <p:sp>
        <p:nvSpPr>
          <p:cNvPr id="17" name="Text 15"/>
          <p:cNvSpPr/>
          <p:nvPr/>
        </p:nvSpPr>
        <p:spPr>
          <a:xfrm>
            <a:off x="7221474" y="1325880"/>
            <a:ext cx="2057400" cy="640080"/>
          </a:xfrm>
          <a:prstGeom prst="rect">
            <a:avLst/>
          </a:prstGeom>
          <a:noFill/>
          <a:ln/>
        </p:spPr>
        <p:txBody>
          <a:bodyPr wrap="square" lIns="0" tIns="0" rIns="0" bIns="0" rtlCol="0" anchor="b"/>
          <a:lstStyle/>
          <a:p>
            <a:pPr algn="ctr" indent="0" marL="0">
              <a:buNone/>
            </a:pPr>
            <a:r>
              <a:rPr lang="en-US" sz="3400" b="1" dirty="0">
                <a:solidFill>
                  <a:srgbClr val="00684A"/>
                </a:solidFill>
                <a:latin typeface="Arial Narrow" pitchFamily="34" charset="0"/>
                <a:ea typeface="Arial Narrow" pitchFamily="34" charset="-122"/>
                <a:cs typeface="Arial Narrow" pitchFamily="34" charset="-120"/>
              </a:rPr>
              <a:t>04</a:t>
            </a:r>
            <a:endParaRPr lang="en-US" sz="3400" dirty="0"/>
          </a:p>
        </p:txBody>
      </p:sp>
      <p:sp>
        <p:nvSpPr>
          <p:cNvPr id="18" name="Shape 16"/>
          <p:cNvSpPr/>
          <p:nvPr/>
        </p:nvSpPr>
        <p:spPr>
          <a:xfrm>
            <a:off x="8085582" y="2167128"/>
            <a:ext cx="329184" cy="329184"/>
          </a:xfrm>
          <a:prstGeom prst="ellipse">
            <a:avLst/>
          </a:prstGeom>
          <a:solidFill>
            <a:srgbClr val="FFFFFF"/>
          </a:solidFill>
          <a:ln w="38100">
            <a:solidFill>
              <a:srgbClr val="00684A"/>
            </a:solidFill>
            <a:prstDash val="solid"/>
          </a:ln>
        </p:spPr>
      </p:sp>
      <p:sp>
        <p:nvSpPr>
          <p:cNvPr id="19" name="Text 17"/>
          <p:cNvSpPr/>
          <p:nvPr/>
        </p:nvSpPr>
        <p:spPr>
          <a:xfrm>
            <a:off x="7221474" y="2697480"/>
            <a:ext cx="2057400" cy="411480"/>
          </a:xfrm>
          <a:prstGeom prst="rect">
            <a:avLst/>
          </a:prstGeom>
          <a:noFill/>
          <a:ln/>
        </p:spPr>
        <p:txBody>
          <a:bodyPr wrap="square" lIns="0" tIns="0" rIns="0" bIns="0" rtlCol="0" anchor="t"/>
          <a:lstStyle/>
          <a:p>
            <a:pPr algn="ctr" indent="0" marL="0">
              <a:buNone/>
            </a:pPr>
            <a:r>
              <a:rPr lang="en-US" sz="2200" b="1" dirty="0">
                <a:solidFill>
                  <a:srgbClr val="001E2B"/>
                </a:solidFill>
                <a:latin typeface="Arial Narrow" pitchFamily="34" charset="0"/>
                <a:ea typeface="Arial Narrow" pitchFamily="34" charset="-122"/>
                <a:cs typeface="Arial Narrow" pitchFamily="34" charset="-120"/>
              </a:rPr>
              <a:t>DRIVER</a:t>
            </a:r>
            <a:endParaRPr lang="en-US" sz="2200" dirty="0"/>
          </a:p>
        </p:txBody>
      </p:sp>
      <p:sp>
        <p:nvSpPr>
          <p:cNvPr id="20" name="Text 18"/>
          <p:cNvSpPr/>
          <p:nvPr/>
        </p:nvSpPr>
        <p:spPr>
          <a:xfrm>
            <a:off x="7221474" y="3154680"/>
            <a:ext cx="2057400" cy="1371600"/>
          </a:xfrm>
          <a:prstGeom prst="rect">
            <a:avLst/>
          </a:prstGeom>
          <a:noFill/>
          <a:ln/>
        </p:spPr>
        <p:txBody>
          <a:bodyPr wrap="square" lIns="0" tIns="0" rIns="0" bIns="0" rtlCol="0" anchor="t"/>
          <a:lstStyle/>
          <a:p>
            <a:pPr algn="ctr" indent="0" marL="0">
              <a:buNone/>
            </a:pPr>
            <a:r>
              <a:rPr lang="en-US" sz="1800" dirty="0">
                <a:solidFill>
                  <a:srgbClr val="5C6C75"/>
                </a:solidFill>
                <a:latin typeface="Calibri" pitchFamily="34" charset="0"/>
                <a:ea typeface="Calibri" pitchFamily="34" charset="-122"/>
                <a:cs typeface="Calibri" pitchFamily="34" charset="-120"/>
              </a:rPr>
              <a:t>Instalar el paquete mongodb con npm.</a:t>
            </a:r>
            <a:endParaRPr lang="en-US" sz="1800" dirty="0"/>
          </a:p>
        </p:txBody>
      </p:sp>
      <p:sp>
        <p:nvSpPr>
          <p:cNvPr id="21" name="Text 19"/>
          <p:cNvSpPr/>
          <p:nvPr/>
        </p:nvSpPr>
        <p:spPr>
          <a:xfrm>
            <a:off x="9377172" y="1325880"/>
            <a:ext cx="2057400" cy="640080"/>
          </a:xfrm>
          <a:prstGeom prst="rect">
            <a:avLst/>
          </a:prstGeom>
          <a:noFill/>
          <a:ln/>
        </p:spPr>
        <p:txBody>
          <a:bodyPr wrap="square" lIns="0" tIns="0" rIns="0" bIns="0" rtlCol="0" anchor="b"/>
          <a:lstStyle/>
          <a:p>
            <a:pPr algn="ctr" indent="0" marL="0">
              <a:buNone/>
            </a:pPr>
            <a:r>
              <a:rPr lang="en-US" sz="3400" b="1" dirty="0">
                <a:solidFill>
                  <a:srgbClr val="00684A"/>
                </a:solidFill>
                <a:latin typeface="Arial Narrow" pitchFamily="34" charset="0"/>
                <a:ea typeface="Arial Narrow" pitchFamily="34" charset="-122"/>
                <a:cs typeface="Arial Narrow" pitchFamily="34" charset="-120"/>
              </a:rPr>
              <a:t>05</a:t>
            </a:r>
            <a:endParaRPr lang="en-US" sz="3400" dirty="0"/>
          </a:p>
        </p:txBody>
      </p:sp>
      <p:sp>
        <p:nvSpPr>
          <p:cNvPr id="22" name="Shape 20"/>
          <p:cNvSpPr/>
          <p:nvPr/>
        </p:nvSpPr>
        <p:spPr>
          <a:xfrm>
            <a:off x="10241280" y="2167128"/>
            <a:ext cx="329184" cy="329184"/>
          </a:xfrm>
          <a:prstGeom prst="ellipse">
            <a:avLst/>
          </a:prstGeom>
          <a:solidFill>
            <a:srgbClr val="00ED64"/>
          </a:solidFill>
          <a:ln w="38100">
            <a:solidFill>
              <a:srgbClr val="00ED64"/>
            </a:solidFill>
            <a:prstDash val="solid"/>
          </a:ln>
        </p:spPr>
      </p:sp>
      <p:sp>
        <p:nvSpPr>
          <p:cNvPr id="23" name="Text 21"/>
          <p:cNvSpPr/>
          <p:nvPr/>
        </p:nvSpPr>
        <p:spPr>
          <a:xfrm>
            <a:off x="9377172" y="2697480"/>
            <a:ext cx="2057400" cy="411480"/>
          </a:xfrm>
          <a:prstGeom prst="rect">
            <a:avLst/>
          </a:prstGeom>
          <a:noFill/>
          <a:ln/>
        </p:spPr>
        <p:txBody>
          <a:bodyPr wrap="square" lIns="0" tIns="0" rIns="0" bIns="0" rtlCol="0" anchor="t"/>
          <a:lstStyle/>
          <a:p>
            <a:pPr algn="ctr" indent="0" marL="0">
              <a:buNone/>
            </a:pPr>
            <a:r>
              <a:rPr lang="en-US" sz="2200" b="1" dirty="0">
                <a:solidFill>
                  <a:srgbClr val="001E2B"/>
                </a:solidFill>
                <a:latin typeface="Arial Narrow" pitchFamily="34" charset="0"/>
                <a:ea typeface="Arial Narrow" pitchFamily="34" charset="-122"/>
                <a:cs typeface="Arial Narrow" pitchFamily="34" charset="-120"/>
              </a:rPr>
              <a:t>CRUD</a:t>
            </a:r>
            <a:endParaRPr lang="en-US" sz="2200" dirty="0"/>
          </a:p>
        </p:txBody>
      </p:sp>
      <p:sp>
        <p:nvSpPr>
          <p:cNvPr id="24" name="Text 22"/>
          <p:cNvSpPr/>
          <p:nvPr/>
        </p:nvSpPr>
        <p:spPr>
          <a:xfrm>
            <a:off x="9377172" y="3154680"/>
            <a:ext cx="2057400" cy="1371600"/>
          </a:xfrm>
          <a:prstGeom prst="rect">
            <a:avLst/>
          </a:prstGeom>
          <a:noFill/>
          <a:ln/>
        </p:spPr>
        <p:txBody>
          <a:bodyPr wrap="square" lIns="0" tIns="0" rIns="0" bIns="0" rtlCol="0" anchor="t"/>
          <a:lstStyle/>
          <a:p>
            <a:pPr algn="ctr" indent="0" marL="0">
              <a:buNone/>
            </a:pPr>
            <a:r>
              <a:rPr lang="en-US" sz="1800" dirty="0">
                <a:solidFill>
                  <a:srgbClr val="5C6C75"/>
                </a:solidFill>
                <a:latin typeface="Calibri" pitchFamily="34" charset="0"/>
                <a:ea typeface="Calibri" pitchFamily="34" charset="-122"/>
                <a:cs typeface="Calibri" pitchFamily="34" charset="-120"/>
              </a:rPr>
              <a:t>Crear el MongoClient e insertar, consultar, modificar y eliminar.</a:t>
            </a:r>
            <a:endParaRPr lang="en-US" sz="1800" dirty="0"/>
          </a:p>
        </p:txBody>
      </p:sp>
      <p:sp>
        <p:nvSpPr>
          <p:cNvPr id="25" name="Shape 23"/>
          <p:cNvSpPr/>
          <p:nvPr/>
        </p:nvSpPr>
        <p:spPr>
          <a:xfrm>
            <a:off x="822960" y="4297680"/>
            <a:ext cx="10543032" cy="1737360"/>
          </a:xfrm>
          <a:prstGeom prst="roundRect">
            <a:avLst>
              <a:gd name="adj" fmla="val 4211"/>
            </a:avLst>
          </a:prstGeom>
          <a:solidFill>
            <a:srgbClr val="001E2B"/>
          </a:solidFill>
          <a:ln/>
        </p:spPr>
      </p:sp>
      <p:sp>
        <p:nvSpPr>
          <p:cNvPr id="26" name="Text 24"/>
          <p:cNvSpPr/>
          <p:nvPr/>
        </p:nvSpPr>
        <p:spPr>
          <a:xfrm>
            <a:off x="1188720" y="4297680"/>
            <a:ext cx="7498080" cy="1737360"/>
          </a:xfrm>
          <a:prstGeom prst="rect">
            <a:avLst/>
          </a:prstGeom>
          <a:noFill/>
          <a:ln/>
        </p:spPr>
        <p:txBody>
          <a:bodyPr wrap="square" lIns="0" tIns="0" rIns="0" bIns="0" rtlCol="0" anchor="ctr"/>
          <a:lstStyle/>
          <a:p>
            <a:pPr indent="0" marL="0">
              <a:lnSpc>
                <a:spcPts val="3000"/>
              </a:lnSpc>
              <a:buNone/>
            </a:pPr>
            <a:r>
              <a:rPr lang="en-US" sz="1600" dirty="0">
                <a:solidFill>
                  <a:srgbClr val="E3EDEA"/>
                </a:solidFill>
                <a:latin typeface="Consolas" pitchFamily="34" charset="0"/>
                <a:ea typeface="Consolas" pitchFamily="34" charset="-122"/>
                <a:cs typeface="Consolas" pitchFamily="34" charset="-120"/>
              </a:rPr>
              <a:t>$ npm install mongodb</a:t>
            </a:r>
            <a:endParaRPr lang="en-US" sz="1600" dirty="0"/>
          </a:p>
          <a:p>
            <a:pPr indent="0" marL="0">
              <a:lnSpc>
                <a:spcPts val="3000"/>
              </a:lnSpc>
              <a:buNone/>
            </a:pPr>
            <a:r>
              <a:rPr lang="en-US" sz="1600" dirty="0">
                <a:solidFill>
                  <a:srgbClr val="E3EDEA"/>
                </a:solidFill>
                <a:latin typeface="Consolas" pitchFamily="34" charset="0"/>
                <a:ea typeface="Consolas" pitchFamily="34" charset="-122"/>
                <a:cs typeface="Consolas" pitchFamily="34" charset="-120"/>
              </a:rPr>
              <a:t>mongodb+srv://&lt;usuario&gt;:&lt;db_password&gt;@&lt;cluster&gt;.mongodb.net/</a:t>
            </a:r>
            <a:endParaRPr lang="en-US" sz="1600" dirty="0"/>
          </a:p>
          <a:p>
            <a:pPr indent="0" marL="0">
              <a:lnSpc>
                <a:spcPts val="3000"/>
              </a:lnSpc>
              <a:buNone/>
            </a:pPr>
            <a:r>
              <a:rPr lang="en-US" sz="1600" dirty="0">
                <a:solidFill>
                  <a:srgbClr val="E3EDEA"/>
                </a:solidFill>
                <a:latin typeface="Consolas" pitchFamily="34" charset="0"/>
                <a:ea typeface="Consolas" pitchFamily="34" charset="-122"/>
                <a:cs typeface="Consolas" pitchFamily="34" charset="-120"/>
              </a:rPr>
              <a:t>const client = new MongoClient(uri);</a:t>
            </a:r>
            <a:endParaRPr lang="en-US" sz="1600" dirty="0"/>
          </a:p>
        </p:txBody>
      </p:sp>
      <p:sp>
        <p:nvSpPr>
          <p:cNvPr id="27" name="Text 25"/>
          <p:cNvSpPr/>
          <p:nvPr/>
        </p:nvSpPr>
        <p:spPr>
          <a:xfrm>
            <a:off x="8622792" y="4297680"/>
            <a:ext cx="2468880" cy="1737360"/>
          </a:xfrm>
          <a:prstGeom prst="rect">
            <a:avLst/>
          </a:prstGeom>
          <a:noFill/>
          <a:ln/>
        </p:spPr>
        <p:txBody>
          <a:bodyPr wrap="square" lIns="0" tIns="0" rIns="0" bIns="0" rtlCol="0" anchor="ctr"/>
          <a:lstStyle/>
          <a:p>
            <a:pPr algn="r" indent="0" marL="0">
              <a:buNone/>
            </a:pPr>
            <a:r>
              <a:rPr lang="en-US" sz="1700" dirty="0">
                <a:solidFill>
                  <a:srgbClr val="B8D4CC"/>
                </a:solidFill>
                <a:latin typeface="Calibri" pitchFamily="34" charset="0"/>
                <a:ea typeface="Calibri" pitchFamily="34" charset="-122"/>
                <a:cs typeface="Calibri" pitchFamily="34" charset="-120"/>
              </a:rPr>
              <a:t>Requisito: Node.js 16.20.1 o superior</a:t>
            </a:r>
            <a:endParaRPr lang="en-US" sz="1700" dirty="0"/>
          </a:p>
        </p:txBody>
      </p:sp>
      <p:sp>
        <p:nvSpPr>
          <p:cNvPr id="28" name="Text 26"/>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06 / 12</a:t>
            </a:r>
            <a:endParaRPr lang="en-US" sz="1300" dirty="0"/>
          </a:p>
        </p:txBody>
      </p:sp>
      <p:sp>
        <p:nvSpPr>
          <p:cNvPr id="29" name="Text 27"/>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EJEMPLO: API DE PRODUCTOS</a:t>
            </a:r>
            <a:endParaRPr lang="en-US" sz="3600" dirty="0"/>
          </a:p>
        </p:txBody>
      </p:sp>
      <p:sp>
        <p:nvSpPr>
          <p:cNvPr id="4" name="Shape 2"/>
          <p:cNvSpPr/>
          <p:nvPr/>
        </p:nvSpPr>
        <p:spPr>
          <a:xfrm>
            <a:off x="822960" y="1325880"/>
            <a:ext cx="6400800" cy="3611880"/>
          </a:xfrm>
          <a:prstGeom prst="roundRect">
            <a:avLst>
              <a:gd name="adj" fmla="val 2532"/>
            </a:avLst>
          </a:prstGeom>
          <a:solidFill>
            <a:srgbClr val="001E2B"/>
          </a:solidFill>
          <a:ln/>
        </p:spPr>
      </p:sp>
      <p:sp>
        <p:nvSpPr>
          <p:cNvPr id="5" name="Shape 3"/>
          <p:cNvSpPr/>
          <p:nvPr/>
        </p:nvSpPr>
        <p:spPr>
          <a:xfrm>
            <a:off x="1024128" y="1508760"/>
            <a:ext cx="128016" cy="128016"/>
          </a:xfrm>
          <a:prstGeom prst="ellipse">
            <a:avLst/>
          </a:prstGeom>
          <a:solidFill>
            <a:srgbClr val="FF5F57"/>
          </a:solidFill>
          <a:ln/>
        </p:spPr>
      </p:sp>
      <p:sp>
        <p:nvSpPr>
          <p:cNvPr id="6" name="Shape 4"/>
          <p:cNvSpPr/>
          <p:nvPr/>
        </p:nvSpPr>
        <p:spPr>
          <a:xfrm>
            <a:off x="1225296" y="1508760"/>
            <a:ext cx="128016" cy="128016"/>
          </a:xfrm>
          <a:prstGeom prst="ellipse">
            <a:avLst/>
          </a:prstGeom>
          <a:solidFill>
            <a:srgbClr val="FEBC2E"/>
          </a:solidFill>
          <a:ln/>
        </p:spPr>
      </p:sp>
      <p:sp>
        <p:nvSpPr>
          <p:cNvPr id="7" name="Shape 5"/>
          <p:cNvSpPr/>
          <p:nvPr/>
        </p:nvSpPr>
        <p:spPr>
          <a:xfrm>
            <a:off x="1426464" y="1508760"/>
            <a:ext cx="128016" cy="128016"/>
          </a:xfrm>
          <a:prstGeom prst="ellipse">
            <a:avLst/>
          </a:prstGeom>
          <a:solidFill>
            <a:srgbClr val="28C840"/>
          </a:solidFill>
          <a:ln/>
        </p:spPr>
      </p:sp>
      <p:sp>
        <p:nvSpPr>
          <p:cNvPr id="8" name="Shape 6"/>
          <p:cNvSpPr/>
          <p:nvPr/>
        </p:nvSpPr>
        <p:spPr>
          <a:xfrm>
            <a:off x="1737360" y="1435608"/>
            <a:ext cx="1828800" cy="274320"/>
          </a:xfrm>
          <a:prstGeom prst="roundRect">
            <a:avLst>
              <a:gd name="adj" fmla="val 50000"/>
            </a:avLst>
          </a:prstGeom>
          <a:solidFill>
            <a:srgbClr val="0B3242"/>
          </a:solidFill>
          <a:ln/>
        </p:spPr>
      </p:sp>
      <p:sp>
        <p:nvSpPr>
          <p:cNvPr id="9" name="Text 7"/>
          <p:cNvSpPr/>
          <p:nvPr/>
        </p:nvSpPr>
        <p:spPr>
          <a:xfrm>
            <a:off x="1737360" y="1435608"/>
            <a:ext cx="1828800" cy="274320"/>
          </a:xfrm>
          <a:prstGeom prst="rect">
            <a:avLst/>
          </a:prstGeom>
          <a:noFill/>
          <a:ln/>
        </p:spPr>
        <p:txBody>
          <a:bodyPr wrap="square" lIns="0" tIns="0" rIns="0" bIns="0" rtlCol="0" anchor="ctr"/>
          <a:lstStyle/>
          <a:p>
            <a:pPr algn="ctr" indent="0" marL="0">
              <a:buNone/>
            </a:pPr>
            <a:r>
              <a:rPr lang="en-US" sz="1200" dirty="0">
                <a:solidFill>
                  <a:srgbClr val="B8D4CC"/>
                </a:solidFill>
                <a:latin typeface="Consolas" pitchFamily="34" charset="0"/>
                <a:ea typeface="Consolas" pitchFamily="34" charset="-122"/>
                <a:cs typeface="Consolas" pitchFamily="34" charset="-120"/>
              </a:rPr>
              <a:t>productos.js</a:t>
            </a:r>
            <a:endParaRPr lang="en-US" sz="1200" dirty="0"/>
          </a:p>
        </p:txBody>
      </p:sp>
      <p:sp>
        <p:nvSpPr>
          <p:cNvPr id="10" name="Shape 8"/>
          <p:cNvSpPr/>
          <p:nvPr/>
        </p:nvSpPr>
        <p:spPr>
          <a:xfrm>
            <a:off x="1005840" y="3520440"/>
            <a:ext cx="64008" cy="548640"/>
          </a:xfrm>
          <a:prstGeom prst="rect">
            <a:avLst/>
          </a:prstGeom>
          <a:solidFill>
            <a:srgbClr val="00ED64"/>
          </a:solidFill>
          <a:ln/>
        </p:spPr>
      </p:sp>
      <p:sp>
        <p:nvSpPr>
          <p:cNvPr id="11" name="Text 9"/>
          <p:cNvSpPr/>
          <p:nvPr/>
        </p:nvSpPr>
        <p:spPr>
          <a:xfrm>
            <a:off x="1188720" y="1874520"/>
            <a:ext cx="5943600" cy="2834640"/>
          </a:xfrm>
          <a:prstGeom prst="rect">
            <a:avLst/>
          </a:prstGeom>
          <a:noFill/>
          <a:ln/>
        </p:spPr>
        <p:txBody>
          <a:bodyPr wrap="square" lIns="0" tIns="0" rIns="0" bIns="0" rtlCol="0" anchor="t"/>
          <a:lstStyle/>
          <a:p>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import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 MongoClient } </a:t>
            </a:r>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from</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a:t>
            </a:r>
            <a:pPr indent="0" marL="0">
              <a:lnSpc>
                <a:spcPts val="2160"/>
              </a:lnSpc>
              <a:buNone/>
            </a:pPr>
            <a:r>
              <a:rPr lang="en-US" sz="1600" dirty="0">
                <a:solidFill>
                  <a:srgbClr val="9FE6B8"/>
                </a:solidFill>
                <a:latin typeface="Consolas" pitchFamily="34" charset="0"/>
                <a:ea typeface="Consolas" pitchFamily="34" charset="-122"/>
                <a:cs typeface="Consolas" pitchFamily="34" charset="-120"/>
              </a:rPr>
              <a:t>'mongodb'</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a:t>
            </a:r>
            <a:endParaRPr lang="en-US" sz="1600" dirty="0"/>
          </a:p>
          <a:p>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const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uri = process.env.MONGO_URI;</a:t>
            </a:r>
            <a:endParaRPr lang="en-US" sz="1600" dirty="0"/>
          </a:p>
          <a:p>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const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db = </a:t>
            </a:r>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new</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MongoClient(uri).db(</a:t>
            </a:r>
            <a:pPr indent="0" marL="0">
              <a:lnSpc>
                <a:spcPts val="2160"/>
              </a:lnSpc>
              <a:buNone/>
            </a:pPr>
            <a:r>
              <a:rPr lang="en-US" sz="1600" dirty="0">
                <a:solidFill>
                  <a:srgbClr val="9FE6B8"/>
                </a:solidFill>
                <a:latin typeface="Consolas" pitchFamily="34" charset="0"/>
                <a:ea typeface="Consolas" pitchFamily="34" charset="-122"/>
                <a:cs typeface="Consolas" pitchFamily="34" charset="-120"/>
              </a:rPr>
              <a:t>'tienda'</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a:t>
            </a:r>
            <a:endParaRPr lang="en-US" sz="1600" dirty="0"/>
          </a:p>
          <a:p>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const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productos = db.collection(</a:t>
            </a:r>
            <a:pPr indent="0" marL="0">
              <a:lnSpc>
                <a:spcPts val="2160"/>
              </a:lnSpc>
              <a:buNone/>
            </a:pPr>
            <a:r>
              <a:rPr lang="en-US" sz="1600" dirty="0">
                <a:solidFill>
                  <a:srgbClr val="9FE6B8"/>
                </a:solidFill>
                <a:latin typeface="Consolas" pitchFamily="34" charset="0"/>
                <a:ea typeface="Consolas" pitchFamily="34" charset="-122"/>
                <a:cs typeface="Consolas" pitchFamily="34" charset="-120"/>
              </a:rPr>
              <a:t>'productos'</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app.get(</a:t>
            </a:r>
            <a:pPr indent="0" marL="0">
              <a:lnSpc>
                <a:spcPts val="2160"/>
              </a:lnSpc>
              <a:buNone/>
            </a:pPr>
            <a:r>
              <a:rPr lang="en-US" sz="1600" dirty="0">
                <a:solidFill>
                  <a:srgbClr val="9FE6B8"/>
                </a:solidFill>
                <a:latin typeface="Consolas" pitchFamily="34" charset="0"/>
                <a:ea typeface="Consolas" pitchFamily="34" charset="-122"/>
                <a:cs typeface="Consolas" pitchFamily="34" charset="-120"/>
              </a:rPr>
              <a:t>'/productos/:sku'</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a:t>
            </a:r>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async</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(req, res) =&gt; {</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a:t>
            </a:r>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const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p = </a:t>
            </a:r>
            <a:pPr indent="0" marL="0">
              <a:lnSpc>
                <a:spcPts val="2160"/>
              </a:lnSpc>
              <a:buNone/>
            </a:pPr>
            <a:r>
              <a:rPr lang="en-US" sz="1600" dirty="0">
                <a:solidFill>
                  <a:srgbClr val="7FC8E8"/>
                </a:solidFill>
                <a:latin typeface="Consolas" pitchFamily="34" charset="0"/>
                <a:ea typeface="Consolas" pitchFamily="34" charset="-122"/>
                <a:cs typeface="Consolas" pitchFamily="34" charset="-120"/>
              </a:rPr>
              <a:t>await</a:t>
            </a:r>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productos.findOne(</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 sku: req.params.sku });</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  p ? res.json(p) : res.sendStatus(404);</a:t>
            </a:r>
            <a:endParaRPr lang="en-US" sz="1600" dirty="0"/>
          </a:p>
          <a:p>
            <a:pPr indent="0" marL="0">
              <a:lnSpc>
                <a:spcPts val="2160"/>
              </a:lnSpc>
              <a:buNone/>
            </a:pPr>
            <a:r>
              <a:rPr lang="en-US" sz="1600" dirty="0">
                <a:solidFill>
                  <a:srgbClr val="E3EDEA"/>
                </a:solidFill>
                <a:latin typeface="Consolas" pitchFamily="34" charset="0"/>
                <a:ea typeface="Consolas" pitchFamily="34" charset="-122"/>
                <a:cs typeface="Consolas" pitchFamily="34" charset="-120"/>
              </a:rPr>
              <a:t>});</a:t>
            </a:r>
            <a:endParaRPr lang="en-US" sz="1600" dirty="0"/>
          </a:p>
        </p:txBody>
      </p:sp>
      <p:sp>
        <p:nvSpPr>
          <p:cNvPr id="12" name="Shape 10"/>
          <p:cNvSpPr/>
          <p:nvPr/>
        </p:nvSpPr>
        <p:spPr>
          <a:xfrm>
            <a:off x="7333488" y="2834640"/>
            <a:ext cx="411480" cy="411480"/>
          </a:xfrm>
          <a:prstGeom prst="rightArrow">
            <a:avLst/>
          </a:prstGeom>
          <a:solidFill>
            <a:srgbClr val="00684A"/>
          </a:solidFill>
          <a:ln/>
        </p:spPr>
      </p:sp>
      <p:sp>
        <p:nvSpPr>
          <p:cNvPr id="13" name="Shape 11"/>
          <p:cNvSpPr/>
          <p:nvPr/>
        </p:nvSpPr>
        <p:spPr>
          <a:xfrm>
            <a:off x="7863840" y="1325880"/>
            <a:ext cx="3502152" cy="3611880"/>
          </a:xfrm>
          <a:prstGeom prst="rect">
            <a:avLst/>
          </a:prstGeom>
          <a:solidFill>
            <a:srgbClr val="EBF5F2"/>
          </a:solidFill>
          <a:ln/>
        </p:spPr>
      </p:sp>
      <p:sp>
        <p:nvSpPr>
          <p:cNvPr id="14" name="Shape 12"/>
          <p:cNvSpPr/>
          <p:nvPr/>
        </p:nvSpPr>
        <p:spPr>
          <a:xfrm>
            <a:off x="8046720" y="1508760"/>
            <a:ext cx="3136392" cy="411480"/>
          </a:xfrm>
          <a:prstGeom prst="roundRect">
            <a:avLst>
              <a:gd name="adj" fmla="val 17778"/>
            </a:avLst>
          </a:prstGeom>
          <a:solidFill>
            <a:srgbClr val="00684A"/>
          </a:solidFill>
          <a:ln/>
        </p:spPr>
      </p:sp>
      <p:sp>
        <p:nvSpPr>
          <p:cNvPr id="15" name="Text 13"/>
          <p:cNvSpPr/>
          <p:nvPr/>
        </p:nvSpPr>
        <p:spPr>
          <a:xfrm>
            <a:off x="8046720" y="1508760"/>
            <a:ext cx="3136392" cy="411480"/>
          </a:xfrm>
          <a:prstGeom prst="rect">
            <a:avLst/>
          </a:prstGeom>
          <a:noFill/>
          <a:ln/>
        </p:spPr>
        <p:txBody>
          <a:bodyPr wrap="square" lIns="0" tIns="0" rIns="0" bIns="0" rtlCol="0" anchor="ctr"/>
          <a:lstStyle/>
          <a:p>
            <a:pPr algn="ctr" indent="0" marL="0">
              <a:buNone/>
            </a:pPr>
            <a:r>
              <a:rPr lang="en-US" sz="1500" dirty="0">
                <a:solidFill>
                  <a:srgbClr val="FFFFFF"/>
                </a:solidFill>
                <a:latin typeface="Consolas" pitchFamily="34" charset="0"/>
                <a:ea typeface="Consolas" pitchFamily="34" charset="-122"/>
                <a:cs typeface="Consolas" pitchFamily="34" charset="-120"/>
              </a:rPr>
              <a:t>GET /productos/PLY-01</a:t>
            </a:r>
            <a:endParaRPr lang="en-US" sz="1500" dirty="0"/>
          </a:p>
        </p:txBody>
      </p:sp>
      <p:sp>
        <p:nvSpPr>
          <p:cNvPr id="16" name="Text 14"/>
          <p:cNvSpPr/>
          <p:nvPr/>
        </p:nvSpPr>
        <p:spPr>
          <a:xfrm>
            <a:off x="8183880" y="2194560"/>
            <a:ext cx="3044952" cy="2560320"/>
          </a:xfrm>
          <a:prstGeom prst="rect">
            <a:avLst/>
          </a:prstGeom>
          <a:noFill/>
          <a:ln/>
        </p:spPr>
        <p:txBody>
          <a:bodyPr wrap="square" lIns="0" tIns="0" rIns="0" bIns="0" rtlCol="0" anchor="t"/>
          <a:lstStyle/>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  "_id": "6718a2…",</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  "sku": "PLY-01",</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  "nombre": "Playera",</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  "precio": 199,</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  "talla": "M"</a:t>
            </a:r>
            <a:endParaRPr lang="en-US" sz="1600" dirty="0"/>
          </a:p>
          <a:p>
            <a:pPr indent="0" marL="0">
              <a:lnSpc>
                <a:spcPts val="2200"/>
              </a:lnSpc>
              <a:buNone/>
            </a:pPr>
            <a:r>
              <a:rPr lang="en-US" sz="1600" dirty="0">
                <a:solidFill>
                  <a:srgbClr val="001E2B"/>
                </a:solidFill>
                <a:latin typeface="Consolas" pitchFamily="34" charset="0"/>
                <a:ea typeface="Consolas" pitchFamily="34" charset="-122"/>
                <a:cs typeface="Consolas" pitchFamily="34" charset="-120"/>
              </a:rPr>
              <a:t>}</a:t>
            </a:r>
            <a:endParaRPr lang="en-US" sz="1600" dirty="0"/>
          </a:p>
        </p:txBody>
      </p:sp>
      <p:sp>
        <p:nvSpPr>
          <p:cNvPr id="17" name="Shape 15"/>
          <p:cNvSpPr/>
          <p:nvPr/>
        </p:nvSpPr>
        <p:spPr>
          <a:xfrm>
            <a:off x="822960" y="5212080"/>
            <a:ext cx="3392424" cy="822960"/>
          </a:xfrm>
          <a:prstGeom prst="rect">
            <a:avLst/>
          </a:prstGeom>
          <a:solidFill>
            <a:srgbClr val="FFFFFF"/>
          </a:solidFill>
          <a:ln w="12700">
            <a:solidFill>
              <a:srgbClr val="D5DDE0"/>
            </a:solidFill>
            <a:prstDash val="solid"/>
          </a:ln>
        </p:spPr>
      </p:sp>
      <p:sp>
        <p:nvSpPr>
          <p:cNvPr id="18" name="Text 16"/>
          <p:cNvSpPr/>
          <p:nvPr/>
        </p:nvSpPr>
        <p:spPr>
          <a:xfrm>
            <a:off x="1005840" y="5212080"/>
            <a:ext cx="411480" cy="822960"/>
          </a:xfrm>
          <a:prstGeom prst="rect">
            <a:avLst/>
          </a:prstGeom>
          <a:noFill/>
          <a:ln/>
        </p:spPr>
        <p:txBody>
          <a:bodyPr wrap="square" lIns="0" tIns="0" rIns="0" bIns="0" rtlCol="0" anchor="ctr"/>
          <a:lstStyle/>
          <a:p>
            <a:pPr indent="0" marL="0">
              <a:buNone/>
            </a:pPr>
            <a:r>
              <a:rPr lang="en-US" sz="3000" b="1" dirty="0">
                <a:solidFill>
                  <a:srgbClr val="00684A"/>
                </a:solidFill>
                <a:latin typeface="Arial Narrow" pitchFamily="34" charset="0"/>
                <a:ea typeface="Arial Narrow" pitchFamily="34" charset="-122"/>
                <a:cs typeface="Arial Narrow" pitchFamily="34" charset="-120"/>
              </a:rPr>
              <a:t>1</a:t>
            </a:r>
            <a:endParaRPr lang="en-US" sz="3000" dirty="0"/>
          </a:p>
        </p:txBody>
      </p:sp>
      <p:sp>
        <p:nvSpPr>
          <p:cNvPr id="19" name="Text 17"/>
          <p:cNvSpPr/>
          <p:nvPr/>
        </p:nvSpPr>
        <p:spPr>
          <a:xfrm>
            <a:off x="1463040" y="5212080"/>
            <a:ext cx="2615184" cy="822960"/>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La ruta recibe el sku de la URL</a:t>
            </a:r>
            <a:endParaRPr lang="en-US" sz="1800" dirty="0"/>
          </a:p>
        </p:txBody>
      </p:sp>
      <p:sp>
        <p:nvSpPr>
          <p:cNvPr id="20" name="Shape 18"/>
          <p:cNvSpPr/>
          <p:nvPr/>
        </p:nvSpPr>
        <p:spPr>
          <a:xfrm>
            <a:off x="4398264" y="5212080"/>
            <a:ext cx="3392424" cy="822960"/>
          </a:xfrm>
          <a:prstGeom prst="rect">
            <a:avLst/>
          </a:prstGeom>
          <a:solidFill>
            <a:srgbClr val="FFFFFF"/>
          </a:solidFill>
          <a:ln w="12700">
            <a:solidFill>
              <a:srgbClr val="D5DDE0"/>
            </a:solidFill>
            <a:prstDash val="solid"/>
          </a:ln>
        </p:spPr>
      </p:sp>
      <p:sp>
        <p:nvSpPr>
          <p:cNvPr id="21" name="Text 19"/>
          <p:cNvSpPr/>
          <p:nvPr/>
        </p:nvSpPr>
        <p:spPr>
          <a:xfrm>
            <a:off x="4581144" y="5212080"/>
            <a:ext cx="411480" cy="822960"/>
          </a:xfrm>
          <a:prstGeom prst="rect">
            <a:avLst/>
          </a:prstGeom>
          <a:noFill/>
          <a:ln/>
        </p:spPr>
        <p:txBody>
          <a:bodyPr wrap="square" lIns="0" tIns="0" rIns="0" bIns="0" rtlCol="0" anchor="ctr"/>
          <a:lstStyle/>
          <a:p>
            <a:pPr indent="0" marL="0">
              <a:buNone/>
            </a:pPr>
            <a:r>
              <a:rPr lang="en-US" sz="3000" b="1" dirty="0">
                <a:solidFill>
                  <a:srgbClr val="00684A"/>
                </a:solidFill>
                <a:latin typeface="Arial Narrow" pitchFamily="34" charset="0"/>
                <a:ea typeface="Arial Narrow" pitchFamily="34" charset="-122"/>
                <a:cs typeface="Arial Narrow" pitchFamily="34" charset="-120"/>
              </a:rPr>
              <a:t>2</a:t>
            </a:r>
            <a:endParaRPr lang="en-US" sz="3000" dirty="0"/>
          </a:p>
        </p:txBody>
      </p:sp>
      <p:sp>
        <p:nvSpPr>
          <p:cNvPr id="22" name="Text 20"/>
          <p:cNvSpPr/>
          <p:nvPr/>
        </p:nvSpPr>
        <p:spPr>
          <a:xfrm>
            <a:off x="5038344" y="5212080"/>
            <a:ext cx="2615184" cy="822960"/>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findOne busca en la colección</a:t>
            </a:r>
            <a:endParaRPr lang="en-US" sz="1800" dirty="0"/>
          </a:p>
        </p:txBody>
      </p:sp>
      <p:sp>
        <p:nvSpPr>
          <p:cNvPr id="23" name="Shape 21"/>
          <p:cNvSpPr/>
          <p:nvPr/>
        </p:nvSpPr>
        <p:spPr>
          <a:xfrm>
            <a:off x="7973568" y="5212080"/>
            <a:ext cx="3392424" cy="822960"/>
          </a:xfrm>
          <a:prstGeom prst="rect">
            <a:avLst/>
          </a:prstGeom>
          <a:solidFill>
            <a:srgbClr val="FFFFFF"/>
          </a:solidFill>
          <a:ln w="12700">
            <a:solidFill>
              <a:srgbClr val="D5DDE0"/>
            </a:solidFill>
            <a:prstDash val="solid"/>
          </a:ln>
        </p:spPr>
      </p:sp>
      <p:sp>
        <p:nvSpPr>
          <p:cNvPr id="24" name="Text 22"/>
          <p:cNvSpPr/>
          <p:nvPr/>
        </p:nvSpPr>
        <p:spPr>
          <a:xfrm>
            <a:off x="8156448" y="5212080"/>
            <a:ext cx="411480" cy="822960"/>
          </a:xfrm>
          <a:prstGeom prst="rect">
            <a:avLst/>
          </a:prstGeom>
          <a:noFill/>
          <a:ln/>
        </p:spPr>
        <p:txBody>
          <a:bodyPr wrap="square" lIns="0" tIns="0" rIns="0" bIns="0" rtlCol="0" anchor="ctr"/>
          <a:lstStyle/>
          <a:p>
            <a:pPr indent="0" marL="0">
              <a:buNone/>
            </a:pPr>
            <a:r>
              <a:rPr lang="en-US" sz="3000" b="1" dirty="0">
                <a:solidFill>
                  <a:srgbClr val="00684A"/>
                </a:solidFill>
                <a:latin typeface="Arial Narrow" pitchFamily="34" charset="0"/>
                <a:ea typeface="Arial Narrow" pitchFamily="34" charset="-122"/>
                <a:cs typeface="Arial Narrow" pitchFamily="34" charset="-120"/>
              </a:rPr>
              <a:t>3</a:t>
            </a:r>
            <a:endParaRPr lang="en-US" sz="3000" dirty="0"/>
          </a:p>
        </p:txBody>
      </p:sp>
      <p:sp>
        <p:nvSpPr>
          <p:cNvPr id="25" name="Text 23"/>
          <p:cNvSpPr/>
          <p:nvPr/>
        </p:nvSpPr>
        <p:spPr>
          <a:xfrm>
            <a:off x="8613648" y="5212080"/>
            <a:ext cx="2615184" cy="822960"/>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El documento sale como JSON</a:t>
            </a:r>
            <a:endParaRPr lang="en-US" sz="1800" dirty="0"/>
          </a:p>
        </p:txBody>
      </p:sp>
      <p:sp>
        <p:nvSpPr>
          <p:cNvPr id="26" name="Text 24"/>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07 / 12</a:t>
            </a:r>
            <a:endParaRPr lang="en-US" sz="1300" dirty="0"/>
          </a:p>
        </p:txBody>
      </p:sp>
      <p:sp>
        <p:nvSpPr>
          <p:cNvPr id="27" name="Text 25"/>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FRENTE A LO QUE YA VIMOS</a:t>
            </a:r>
            <a:endParaRPr lang="en-US" sz="3600" dirty="0"/>
          </a:p>
        </p:txBody>
      </p:sp>
      <p:sp>
        <p:nvSpPr>
          <p:cNvPr id="4" name="Shape 2"/>
          <p:cNvSpPr/>
          <p:nvPr/>
        </p:nvSpPr>
        <p:spPr>
          <a:xfrm>
            <a:off x="822960" y="1371600"/>
            <a:ext cx="10543032" cy="1024128"/>
          </a:xfrm>
          <a:prstGeom prst="rect">
            <a:avLst/>
          </a:prstGeom>
          <a:solidFill>
            <a:srgbClr val="E6FDEF"/>
          </a:solidFill>
          <a:ln/>
        </p:spPr>
      </p:sp>
      <p:sp>
        <p:nvSpPr>
          <p:cNvPr id="5" name="Shape 3"/>
          <p:cNvSpPr/>
          <p:nvPr/>
        </p:nvSpPr>
        <p:spPr>
          <a:xfrm>
            <a:off x="822960" y="1371600"/>
            <a:ext cx="109728" cy="1024128"/>
          </a:xfrm>
          <a:prstGeom prst="rect">
            <a:avLst/>
          </a:prstGeom>
          <a:solidFill>
            <a:srgbClr val="00ED64"/>
          </a:solidFill>
          <a:ln/>
        </p:spPr>
      </p:sp>
      <p:sp>
        <p:nvSpPr>
          <p:cNvPr id="6" name="Text 4"/>
          <p:cNvSpPr/>
          <p:nvPr/>
        </p:nvSpPr>
        <p:spPr>
          <a:xfrm>
            <a:off x="1188720" y="1371600"/>
            <a:ext cx="2377440" cy="1024128"/>
          </a:xfrm>
          <a:prstGeom prst="rect">
            <a:avLst/>
          </a:prstGeom>
          <a:noFill/>
          <a:ln/>
        </p:spPr>
        <p:txBody>
          <a:bodyPr wrap="square" lIns="0" tIns="0" rIns="0" bIns="0" rtlCol="0" anchor="ctr"/>
          <a:lstStyle/>
          <a:p>
            <a:pPr indent="0" marL="0">
              <a:buNone/>
            </a:pPr>
            <a:r>
              <a:rPr lang="en-US" sz="2400" b="1" dirty="0">
                <a:solidFill>
                  <a:srgbClr val="00684A"/>
                </a:solidFill>
                <a:latin typeface="Arial Narrow" pitchFamily="34" charset="0"/>
                <a:ea typeface="Arial Narrow" pitchFamily="34" charset="-122"/>
                <a:cs typeface="Arial Narrow" pitchFamily="34" charset="-120"/>
              </a:rPr>
              <a:t>VS. MYSQL</a:t>
            </a:r>
            <a:endParaRPr lang="en-US" sz="2400" dirty="0"/>
          </a:p>
        </p:txBody>
      </p:sp>
      <p:sp>
        <p:nvSpPr>
          <p:cNvPr id="7" name="Text 5"/>
          <p:cNvSpPr/>
          <p:nvPr/>
        </p:nvSpPr>
        <p:spPr>
          <a:xfrm>
            <a:off x="3657600" y="1371600"/>
            <a:ext cx="7434072" cy="1024128"/>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Los dos guardan y consultan datos. MySQL fija tablas y une con JOIN; MongoDB guarda documentos y puede embeber lo que se lee junto.</a:t>
            </a:r>
            <a:endParaRPr lang="en-US" sz="1800" dirty="0"/>
          </a:p>
        </p:txBody>
      </p:sp>
      <p:sp>
        <p:nvSpPr>
          <p:cNvPr id="8" name="Shape 6"/>
          <p:cNvSpPr/>
          <p:nvPr/>
        </p:nvSpPr>
        <p:spPr>
          <a:xfrm>
            <a:off x="822960" y="2514600"/>
            <a:ext cx="10543032" cy="1024128"/>
          </a:xfrm>
          <a:prstGeom prst="rect">
            <a:avLst/>
          </a:prstGeom>
          <a:solidFill>
            <a:srgbClr val="EBF5F2"/>
          </a:solidFill>
          <a:ln/>
        </p:spPr>
      </p:sp>
      <p:sp>
        <p:nvSpPr>
          <p:cNvPr id="9" name="Shape 7"/>
          <p:cNvSpPr/>
          <p:nvPr/>
        </p:nvSpPr>
        <p:spPr>
          <a:xfrm>
            <a:off x="822960" y="2514600"/>
            <a:ext cx="109728" cy="1024128"/>
          </a:xfrm>
          <a:prstGeom prst="rect">
            <a:avLst/>
          </a:prstGeom>
          <a:solidFill>
            <a:srgbClr val="00684A"/>
          </a:solidFill>
          <a:ln/>
        </p:spPr>
      </p:sp>
      <p:sp>
        <p:nvSpPr>
          <p:cNvPr id="10" name="Text 8"/>
          <p:cNvSpPr/>
          <p:nvPr/>
        </p:nvSpPr>
        <p:spPr>
          <a:xfrm>
            <a:off x="1188720" y="2514600"/>
            <a:ext cx="2377440" cy="1024128"/>
          </a:xfrm>
          <a:prstGeom prst="rect">
            <a:avLst/>
          </a:prstGeom>
          <a:noFill/>
          <a:ln/>
        </p:spPr>
        <p:txBody>
          <a:bodyPr wrap="square" lIns="0" tIns="0" rIns="0" bIns="0" rtlCol="0" anchor="ctr"/>
          <a:lstStyle/>
          <a:p>
            <a:pPr indent="0" marL="0">
              <a:buNone/>
            </a:pPr>
            <a:r>
              <a:rPr lang="en-US" sz="2400" b="1" dirty="0">
                <a:solidFill>
                  <a:srgbClr val="00684A"/>
                </a:solidFill>
                <a:latin typeface="Arial Narrow" pitchFamily="34" charset="0"/>
                <a:ea typeface="Arial Narrow" pitchFamily="34" charset="-122"/>
                <a:cs typeface="Arial Narrow" pitchFamily="34" charset="-120"/>
              </a:rPr>
              <a:t>VS. DOCKER</a:t>
            </a:r>
            <a:endParaRPr lang="en-US" sz="2400" dirty="0"/>
          </a:p>
        </p:txBody>
      </p:sp>
      <p:sp>
        <p:nvSpPr>
          <p:cNvPr id="11" name="Text 9"/>
          <p:cNvSpPr/>
          <p:nvPr/>
        </p:nvSpPr>
        <p:spPr>
          <a:xfrm>
            <a:off x="3657600" y="2514600"/>
            <a:ext cx="7434072" cy="1024128"/>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Docker ejecuta contenedores y MongoDB guarda datos. Se combinan: el servidor de MongoDB puede correr dentro de un contenedor.</a:t>
            </a:r>
            <a:endParaRPr lang="en-US" sz="1800" dirty="0"/>
          </a:p>
        </p:txBody>
      </p:sp>
      <p:sp>
        <p:nvSpPr>
          <p:cNvPr id="12" name="Shape 10"/>
          <p:cNvSpPr/>
          <p:nvPr/>
        </p:nvSpPr>
        <p:spPr>
          <a:xfrm>
            <a:off x="822960" y="3657600"/>
            <a:ext cx="10543032" cy="1024128"/>
          </a:xfrm>
          <a:prstGeom prst="rect">
            <a:avLst/>
          </a:prstGeom>
          <a:solidFill>
            <a:srgbClr val="EBF5F2"/>
          </a:solidFill>
          <a:ln/>
        </p:spPr>
      </p:sp>
      <p:sp>
        <p:nvSpPr>
          <p:cNvPr id="13" name="Shape 11"/>
          <p:cNvSpPr/>
          <p:nvPr/>
        </p:nvSpPr>
        <p:spPr>
          <a:xfrm>
            <a:off x="822960" y="3657600"/>
            <a:ext cx="109728" cy="1024128"/>
          </a:xfrm>
          <a:prstGeom prst="rect">
            <a:avLst/>
          </a:prstGeom>
          <a:solidFill>
            <a:srgbClr val="00684A"/>
          </a:solidFill>
          <a:ln/>
        </p:spPr>
      </p:sp>
      <p:sp>
        <p:nvSpPr>
          <p:cNvPr id="14" name="Text 12"/>
          <p:cNvSpPr/>
          <p:nvPr/>
        </p:nvSpPr>
        <p:spPr>
          <a:xfrm>
            <a:off x="1188720" y="3657600"/>
            <a:ext cx="2377440" cy="1024128"/>
          </a:xfrm>
          <a:prstGeom prst="rect">
            <a:avLst/>
          </a:prstGeom>
          <a:noFill/>
          <a:ln/>
        </p:spPr>
        <p:txBody>
          <a:bodyPr wrap="square" lIns="0" tIns="0" rIns="0" bIns="0" rtlCol="0" anchor="ctr"/>
          <a:lstStyle/>
          <a:p>
            <a:pPr indent="0" marL="0">
              <a:buNone/>
            </a:pPr>
            <a:r>
              <a:rPr lang="en-US" sz="2400" b="1" dirty="0">
                <a:solidFill>
                  <a:srgbClr val="00684A"/>
                </a:solidFill>
                <a:latin typeface="Arial Narrow" pitchFamily="34" charset="0"/>
                <a:ea typeface="Arial Narrow" pitchFamily="34" charset="-122"/>
                <a:cs typeface="Arial Narrow" pitchFamily="34" charset="-120"/>
              </a:rPr>
              <a:t>CON GRAPHQL</a:t>
            </a:r>
            <a:endParaRPr lang="en-US" sz="2400" dirty="0"/>
          </a:p>
        </p:txBody>
      </p:sp>
      <p:sp>
        <p:nvSpPr>
          <p:cNvPr id="15" name="Text 13"/>
          <p:cNvSpPr/>
          <p:nvPr/>
        </p:nvSpPr>
        <p:spPr>
          <a:xfrm>
            <a:off x="3657600" y="3657600"/>
            <a:ext cx="7434072" cy="1024128"/>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GraphQL define el contrato de la API; el resolver consulta la colección y devuelve el documento.</a:t>
            </a:r>
            <a:endParaRPr lang="en-US" sz="1800" dirty="0"/>
          </a:p>
        </p:txBody>
      </p:sp>
      <p:sp>
        <p:nvSpPr>
          <p:cNvPr id="16" name="Shape 14"/>
          <p:cNvSpPr/>
          <p:nvPr/>
        </p:nvSpPr>
        <p:spPr>
          <a:xfrm>
            <a:off x="822960" y="4800600"/>
            <a:ext cx="10543032" cy="1024128"/>
          </a:xfrm>
          <a:prstGeom prst="rect">
            <a:avLst/>
          </a:prstGeom>
          <a:solidFill>
            <a:srgbClr val="EBF5F2"/>
          </a:solidFill>
          <a:ln/>
        </p:spPr>
      </p:sp>
      <p:sp>
        <p:nvSpPr>
          <p:cNvPr id="17" name="Shape 15"/>
          <p:cNvSpPr/>
          <p:nvPr/>
        </p:nvSpPr>
        <p:spPr>
          <a:xfrm>
            <a:off x="822960" y="4800600"/>
            <a:ext cx="109728" cy="1024128"/>
          </a:xfrm>
          <a:prstGeom prst="rect">
            <a:avLst/>
          </a:prstGeom>
          <a:solidFill>
            <a:srgbClr val="00684A"/>
          </a:solidFill>
          <a:ln/>
        </p:spPr>
      </p:sp>
      <p:sp>
        <p:nvSpPr>
          <p:cNvPr id="18" name="Text 16"/>
          <p:cNvSpPr/>
          <p:nvPr/>
        </p:nvSpPr>
        <p:spPr>
          <a:xfrm>
            <a:off x="1188720" y="4800600"/>
            <a:ext cx="2377440" cy="1024128"/>
          </a:xfrm>
          <a:prstGeom prst="rect">
            <a:avLst/>
          </a:prstGeom>
          <a:noFill/>
          <a:ln/>
        </p:spPr>
        <p:txBody>
          <a:bodyPr wrap="square" lIns="0" tIns="0" rIns="0" bIns="0" rtlCol="0" anchor="ctr"/>
          <a:lstStyle/>
          <a:p>
            <a:pPr indent="0" marL="0">
              <a:buNone/>
            </a:pPr>
            <a:r>
              <a:rPr lang="en-US" sz="2400" b="1" dirty="0">
                <a:solidFill>
                  <a:srgbClr val="00684A"/>
                </a:solidFill>
                <a:latin typeface="Arial Narrow" pitchFamily="34" charset="0"/>
                <a:ea typeface="Arial Narrow" pitchFamily="34" charset="-122"/>
                <a:cs typeface="Arial Narrow" pitchFamily="34" charset="-120"/>
              </a:rPr>
              <a:t>CON EL TOKEN</a:t>
            </a:r>
            <a:endParaRPr lang="en-US" sz="2400" dirty="0"/>
          </a:p>
        </p:txBody>
      </p:sp>
      <p:sp>
        <p:nvSpPr>
          <p:cNvPr id="19" name="Text 17"/>
          <p:cNvSpPr/>
          <p:nvPr/>
        </p:nvSpPr>
        <p:spPr>
          <a:xfrm>
            <a:off x="3657600" y="4800600"/>
            <a:ext cx="7434072" cy="1024128"/>
          </a:xfrm>
          <a:prstGeom prst="rect">
            <a:avLst/>
          </a:prstGeom>
          <a:noFill/>
          <a:ln/>
        </p:spPr>
        <p:txBody>
          <a:bodyPr wrap="square" lIns="0" tIns="0" rIns="0" bIns="0" rtlCol="0" anchor="ctr"/>
          <a:lstStyle/>
          <a:p>
            <a:pPr indent="0" marL="0">
              <a:buNone/>
            </a:pPr>
            <a:r>
              <a:rPr lang="en-US" sz="1800" dirty="0">
                <a:solidFill>
                  <a:srgbClr val="1C2D38"/>
                </a:solidFill>
                <a:latin typeface="Calibri" pitchFamily="34" charset="0"/>
                <a:ea typeface="Calibri" pitchFamily="34" charset="-122"/>
                <a:cs typeface="Calibri" pitchFamily="34" charset="-120"/>
              </a:rPr>
              <a:t>La API valida el token del usuario y MongoDB exige su propio usuario y contraseña, con permisos por base.</a:t>
            </a:r>
            <a:endParaRPr lang="en-US" sz="1800" dirty="0"/>
          </a:p>
        </p:txBody>
      </p:sp>
      <p:sp>
        <p:nvSpPr>
          <p:cNvPr id="20" name="Text 18"/>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08 / 12</a:t>
            </a:r>
            <a:endParaRPr lang="en-US" sz="1300" dirty="0"/>
          </a:p>
        </p:txBody>
      </p:sp>
      <p:sp>
        <p:nvSpPr>
          <p:cNvPr id="21" name="Text 19"/>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4997196"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QUÉ GANA</a:t>
            </a:r>
            <a:endParaRPr lang="en-US" sz="3600" dirty="0"/>
          </a:p>
        </p:txBody>
      </p:sp>
      <p:sp>
        <p:nvSpPr>
          <p:cNvPr id="4" name="Text 2"/>
          <p:cNvSpPr/>
          <p:nvPr/>
        </p:nvSpPr>
        <p:spPr>
          <a:xfrm>
            <a:off x="6368796" y="411480"/>
            <a:ext cx="4997196"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QUÉ CUESTA</a:t>
            </a:r>
            <a:endParaRPr lang="en-US" sz="3600" dirty="0"/>
          </a:p>
        </p:txBody>
      </p:sp>
      <p:sp>
        <p:nvSpPr>
          <p:cNvPr id="5" name="Shape 3"/>
          <p:cNvSpPr/>
          <p:nvPr/>
        </p:nvSpPr>
        <p:spPr>
          <a:xfrm>
            <a:off x="6094476" y="1371600"/>
            <a:ext cx="0" cy="4526280"/>
          </a:xfrm>
          <a:prstGeom prst="line">
            <a:avLst/>
          </a:prstGeom>
          <a:noFill/>
          <a:ln w="12700">
            <a:solidFill>
              <a:srgbClr val="D5DDE0"/>
            </a:solidFill>
            <a:prstDash val="solid"/>
          </a:ln>
        </p:spPr>
      </p:sp>
      <p:sp>
        <p:nvSpPr>
          <p:cNvPr id="6" name="Shape 4"/>
          <p:cNvSpPr/>
          <p:nvPr/>
        </p:nvSpPr>
        <p:spPr>
          <a:xfrm>
            <a:off x="822960" y="1371600"/>
            <a:ext cx="4997196" cy="1371600"/>
          </a:xfrm>
          <a:prstGeom prst="rect">
            <a:avLst/>
          </a:prstGeom>
          <a:solidFill>
            <a:srgbClr val="EBF5F2"/>
          </a:solidFill>
          <a:ln/>
        </p:spPr>
      </p:sp>
      <p:sp>
        <p:nvSpPr>
          <p:cNvPr id="7" name="Shape 5"/>
          <p:cNvSpPr/>
          <p:nvPr/>
        </p:nvSpPr>
        <p:spPr>
          <a:xfrm>
            <a:off x="822960" y="1371600"/>
            <a:ext cx="91440" cy="1371600"/>
          </a:xfrm>
          <a:prstGeom prst="rect">
            <a:avLst/>
          </a:prstGeom>
          <a:solidFill>
            <a:srgbClr val="00684A"/>
          </a:solidFill>
          <a:ln/>
        </p:spPr>
      </p:sp>
      <p:sp>
        <p:nvSpPr>
          <p:cNvPr id="8" name="Text 6"/>
          <p:cNvSpPr/>
          <p:nvPr/>
        </p:nvSpPr>
        <p:spPr>
          <a:xfrm>
            <a:off x="1143000" y="1554480"/>
            <a:ext cx="4494276" cy="384048"/>
          </a:xfrm>
          <a:prstGeom prst="rect">
            <a:avLst/>
          </a:prstGeom>
          <a:noFill/>
          <a:ln/>
        </p:spPr>
        <p:txBody>
          <a:bodyPr wrap="square" lIns="0" tIns="0" rIns="0" bIns="0" rtlCol="0" anchor="t"/>
          <a:lstStyle/>
          <a:p>
            <a:pPr indent="0" marL="0">
              <a:buNone/>
            </a:pPr>
            <a:r>
              <a:rPr lang="en-US" sz="2200" b="1" dirty="0">
                <a:solidFill>
                  <a:srgbClr val="001E2B"/>
                </a:solidFill>
                <a:latin typeface="Arial Narrow" pitchFamily="34" charset="0"/>
                <a:ea typeface="Arial Narrow" pitchFamily="34" charset="-122"/>
                <a:cs typeface="Arial Narrow" pitchFamily="34" charset="-120"/>
              </a:rPr>
              <a:t>FLEXIBILIDAD</a:t>
            </a:r>
            <a:endParaRPr lang="en-US" sz="2200" dirty="0"/>
          </a:p>
        </p:txBody>
      </p:sp>
      <p:sp>
        <p:nvSpPr>
          <p:cNvPr id="9" name="Text 7"/>
          <p:cNvSpPr/>
          <p:nvPr/>
        </p:nvSpPr>
        <p:spPr>
          <a:xfrm>
            <a:off x="1143000" y="1965960"/>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El modelo cambia junto con la app, sin rehacer tablas.</a:t>
            </a:r>
            <a:endParaRPr lang="en-US" sz="1800" dirty="0"/>
          </a:p>
        </p:txBody>
      </p:sp>
      <p:sp>
        <p:nvSpPr>
          <p:cNvPr id="10" name="Shape 8"/>
          <p:cNvSpPr/>
          <p:nvPr/>
        </p:nvSpPr>
        <p:spPr>
          <a:xfrm>
            <a:off x="822960" y="2944368"/>
            <a:ext cx="4997196" cy="1371600"/>
          </a:xfrm>
          <a:prstGeom prst="rect">
            <a:avLst/>
          </a:prstGeom>
          <a:solidFill>
            <a:srgbClr val="EBF5F2"/>
          </a:solidFill>
          <a:ln/>
        </p:spPr>
      </p:sp>
      <p:sp>
        <p:nvSpPr>
          <p:cNvPr id="11" name="Shape 9"/>
          <p:cNvSpPr/>
          <p:nvPr/>
        </p:nvSpPr>
        <p:spPr>
          <a:xfrm>
            <a:off x="822960" y="2944368"/>
            <a:ext cx="91440" cy="1371600"/>
          </a:xfrm>
          <a:prstGeom prst="rect">
            <a:avLst/>
          </a:prstGeom>
          <a:solidFill>
            <a:srgbClr val="00684A"/>
          </a:solidFill>
          <a:ln/>
        </p:spPr>
      </p:sp>
      <p:sp>
        <p:nvSpPr>
          <p:cNvPr id="12" name="Text 10"/>
          <p:cNvSpPr/>
          <p:nvPr/>
        </p:nvSpPr>
        <p:spPr>
          <a:xfrm>
            <a:off x="1143000" y="3127248"/>
            <a:ext cx="4494276" cy="384048"/>
          </a:xfrm>
          <a:prstGeom prst="rect">
            <a:avLst/>
          </a:prstGeom>
          <a:noFill/>
          <a:ln/>
        </p:spPr>
        <p:txBody>
          <a:bodyPr wrap="square" lIns="0" tIns="0" rIns="0" bIns="0" rtlCol="0" anchor="t"/>
          <a:lstStyle/>
          <a:p>
            <a:pPr indent="0" marL="0">
              <a:buNone/>
            </a:pPr>
            <a:r>
              <a:rPr lang="en-US" sz="2200" b="1" dirty="0">
                <a:solidFill>
                  <a:srgbClr val="001E2B"/>
                </a:solidFill>
                <a:latin typeface="Arial Narrow" pitchFamily="34" charset="0"/>
                <a:ea typeface="Arial Narrow" pitchFamily="34" charset="-122"/>
                <a:cs typeface="Arial Narrow" pitchFamily="34" charset="-120"/>
              </a:rPr>
              <a:t>MENOS JOINS</a:t>
            </a:r>
            <a:endParaRPr lang="en-US" sz="2200" dirty="0"/>
          </a:p>
        </p:txBody>
      </p:sp>
      <p:sp>
        <p:nvSpPr>
          <p:cNvPr id="13" name="Text 11"/>
          <p:cNvSpPr/>
          <p:nvPr/>
        </p:nvSpPr>
        <p:spPr>
          <a:xfrm>
            <a:off x="1143000" y="3538728"/>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Lo que se lee junto llega en una sola consulta.</a:t>
            </a:r>
            <a:endParaRPr lang="en-US" sz="1800" dirty="0"/>
          </a:p>
        </p:txBody>
      </p:sp>
      <p:sp>
        <p:nvSpPr>
          <p:cNvPr id="14" name="Shape 12"/>
          <p:cNvSpPr/>
          <p:nvPr/>
        </p:nvSpPr>
        <p:spPr>
          <a:xfrm>
            <a:off x="822960" y="4517136"/>
            <a:ext cx="4997196" cy="1371600"/>
          </a:xfrm>
          <a:prstGeom prst="rect">
            <a:avLst/>
          </a:prstGeom>
          <a:solidFill>
            <a:srgbClr val="EBF5F2"/>
          </a:solidFill>
          <a:ln/>
        </p:spPr>
      </p:sp>
      <p:sp>
        <p:nvSpPr>
          <p:cNvPr id="15" name="Shape 13"/>
          <p:cNvSpPr/>
          <p:nvPr/>
        </p:nvSpPr>
        <p:spPr>
          <a:xfrm>
            <a:off x="822960" y="4517136"/>
            <a:ext cx="91440" cy="1371600"/>
          </a:xfrm>
          <a:prstGeom prst="rect">
            <a:avLst/>
          </a:prstGeom>
          <a:solidFill>
            <a:srgbClr val="00684A"/>
          </a:solidFill>
          <a:ln/>
        </p:spPr>
      </p:sp>
      <p:sp>
        <p:nvSpPr>
          <p:cNvPr id="16" name="Text 14"/>
          <p:cNvSpPr/>
          <p:nvPr/>
        </p:nvSpPr>
        <p:spPr>
          <a:xfrm>
            <a:off x="1143000" y="4700016"/>
            <a:ext cx="4494276" cy="384048"/>
          </a:xfrm>
          <a:prstGeom prst="rect">
            <a:avLst/>
          </a:prstGeom>
          <a:noFill/>
          <a:ln/>
        </p:spPr>
        <p:txBody>
          <a:bodyPr wrap="square" lIns="0" tIns="0" rIns="0" bIns="0" rtlCol="0" anchor="t"/>
          <a:lstStyle/>
          <a:p>
            <a:pPr indent="0" marL="0">
              <a:buNone/>
            </a:pPr>
            <a:r>
              <a:rPr lang="en-US" sz="2200" b="1" dirty="0">
                <a:solidFill>
                  <a:srgbClr val="001E2B"/>
                </a:solidFill>
                <a:latin typeface="Arial Narrow" pitchFamily="34" charset="0"/>
                <a:ea typeface="Arial Narrow" pitchFamily="34" charset="-122"/>
                <a:cs typeface="Arial Narrow" pitchFamily="34" charset="-120"/>
              </a:rPr>
              <a:t>NUBE GESTIONADA</a:t>
            </a:r>
            <a:endParaRPr lang="en-US" sz="2200" dirty="0"/>
          </a:p>
        </p:txBody>
      </p:sp>
      <p:sp>
        <p:nvSpPr>
          <p:cNvPr id="17" name="Text 15"/>
          <p:cNvSpPr/>
          <p:nvPr/>
        </p:nvSpPr>
        <p:spPr>
          <a:xfrm>
            <a:off x="1143000" y="5111496"/>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Atlas aloja el servidor; la API solo necesita la cadena de conexión.</a:t>
            </a:r>
            <a:endParaRPr lang="en-US" sz="1800" dirty="0"/>
          </a:p>
        </p:txBody>
      </p:sp>
      <p:sp>
        <p:nvSpPr>
          <p:cNvPr id="18" name="Shape 16"/>
          <p:cNvSpPr/>
          <p:nvPr/>
        </p:nvSpPr>
        <p:spPr>
          <a:xfrm>
            <a:off x="6368796" y="1371600"/>
            <a:ext cx="4997196" cy="1371600"/>
          </a:xfrm>
          <a:prstGeom prst="rect">
            <a:avLst/>
          </a:prstGeom>
          <a:solidFill>
            <a:srgbClr val="EEF1F3"/>
          </a:solidFill>
          <a:ln/>
        </p:spPr>
      </p:sp>
      <p:sp>
        <p:nvSpPr>
          <p:cNvPr id="19" name="Shape 17"/>
          <p:cNvSpPr/>
          <p:nvPr/>
        </p:nvSpPr>
        <p:spPr>
          <a:xfrm>
            <a:off x="6368796" y="1371600"/>
            <a:ext cx="91440" cy="1371600"/>
          </a:xfrm>
          <a:prstGeom prst="rect">
            <a:avLst/>
          </a:prstGeom>
          <a:solidFill>
            <a:srgbClr val="5C6C75"/>
          </a:solidFill>
          <a:ln/>
        </p:spPr>
      </p:sp>
      <p:sp>
        <p:nvSpPr>
          <p:cNvPr id="20" name="Text 18"/>
          <p:cNvSpPr/>
          <p:nvPr/>
        </p:nvSpPr>
        <p:spPr>
          <a:xfrm>
            <a:off x="6688836" y="1554480"/>
            <a:ext cx="4494276" cy="384048"/>
          </a:xfrm>
          <a:prstGeom prst="rect">
            <a:avLst/>
          </a:prstGeom>
          <a:noFill/>
          <a:ln/>
        </p:spPr>
        <p:txBody>
          <a:bodyPr wrap="square" lIns="0" tIns="0" rIns="0" bIns="0" rtlCol="0" anchor="t"/>
          <a:lstStyle/>
          <a:p>
            <a:pPr indent="0" marL="0">
              <a:buNone/>
            </a:pPr>
            <a:r>
              <a:rPr lang="en-US" sz="2200" b="1" dirty="0">
                <a:solidFill>
                  <a:srgbClr val="001E2B"/>
                </a:solidFill>
                <a:latin typeface="Arial Narrow" pitchFamily="34" charset="0"/>
                <a:ea typeface="Arial Narrow" pitchFamily="34" charset="-122"/>
                <a:cs typeface="Arial Narrow" pitchFamily="34" charset="-120"/>
              </a:rPr>
              <a:t>DISEÑO PREVIO</a:t>
            </a:r>
            <a:endParaRPr lang="en-US" sz="2200" dirty="0"/>
          </a:p>
        </p:txBody>
      </p:sp>
      <p:sp>
        <p:nvSpPr>
          <p:cNvPr id="21" name="Text 19"/>
          <p:cNvSpPr/>
          <p:nvPr/>
        </p:nvSpPr>
        <p:spPr>
          <a:xfrm>
            <a:off x="6688836" y="1965960"/>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Hay que modelar según cómo la app lee los datos.</a:t>
            </a:r>
            <a:endParaRPr lang="en-US" sz="1800" dirty="0"/>
          </a:p>
        </p:txBody>
      </p:sp>
      <p:sp>
        <p:nvSpPr>
          <p:cNvPr id="22" name="Shape 20"/>
          <p:cNvSpPr/>
          <p:nvPr/>
        </p:nvSpPr>
        <p:spPr>
          <a:xfrm>
            <a:off x="6368796" y="2944368"/>
            <a:ext cx="4997196" cy="1371600"/>
          </a:xfrm>
          <a:prstGeom prst="rect">
            <a:avLst/>
          </a:prstGeom>
          <a:solidFill>
            <a:srgbClr val="E6FDEF"/>
          </a:solidFill>
          <a:ln/>
        </p:spPr>
      </p:sp>
      <p:sp>
        <p:nvSpPr>
          <p:cNvPr id="23" name="Shape 21"/>
          <p:cNvSpPr/>
          <p:nvPr/>
        </p:nvSpPr>
        <p:spPr>
          <a:xfrm>
            <a:off x="6368796" y="2944368"/>
            <a:ext cx="91440" cy="1371600"/>
          </a:xfrm>
          <a:prstGeom prst="rect">
            <a:avLst/>
          </a:prstGeom>
          <a:solidFill>
            <a:srgbClr val="00ED64"/>
          </a:solidFill>
          <a:ln/>
        </p:spPr>
      </p:sp>
      <p:sp>
        <p:nvSpPr>
          <p:cNvPr id="24" name="Text 22"/>
          <p:cNvSpPr/>
          <p:nvPr/>
        </p:nvSpPr>
        <p:spPr>
          <a:xfrm>
            <a:off x="6688836" y="3127248"/>
            <a:ext cx="4494276" cy="384048"/>
          </a:xfrm>
          <a:prstGeom prst="rect">
            <a:avLst/>
          </a:prstGeom>
          <a:noFill/>
          <a:ln/>
        </p:spPr>
        <p:txBody>
          <a:bodyPr wrap="square" lIns="0" tIns="0" rIns="0" bIns="0" rtlCol="0" anchor="t"/>
          <a:lstStyle/>
          <a:p>
            <a:pPr indent="0" marL="0">
              <a:buNone/>
            </a:pPr>
            <a:r>
              <a:rPr lang="en-US" sz="2200" b="1" dirty="0">
                <a:solidFill>
                  <a:srgbClr val="00684A"/>
                </a:solidFill>
                <a:latin typeface="Arial Narrow" pitchFamily="34" charset="0"/>
                <a:ea typeface="Arial Narrow" pitchFamily="34" charset="-122"/>
                <a:cs typeface="Arial Narrow" pitchFamily="34" charset="-120"/>
              </a:rPr>
              <a:t>PLAN GRATUITO</a:t>
            </a:r>
            <a:endParaRPr lang="en-US" sz="2200" dirty="0"/>
          </a:p>
        </p:txBody>
      </p:sp>
      <p:sp>
        <p:nvSpPr>
          <p:cNvPr id="25" name="Text 23"/>
          <p:cNvSpPr/>
          <p:nvPr/>
        </p:nvSpPr>
        <p:spPr>
          <a:xfrm>
            <a:off x="6688836" y="3538728"/>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M0: 512 MB, hasta 100 operaciones por segundo y sin respaldos.</a:t>
            </a:r>
            <a:endParaRPr lang="en-US" sz="1800" dirty="0"/>
          </a:p>
        </p:txBody>
      </p:sp>
      <p:sp>
        <p:nvSpPr>
          <p:cNvPr id="26" name="Shape 24"/>
          <p:cNvSpPr/>
          <p:nvPr/>
        </p:nvSpPr>
        <p:spPr>
          <a:xfrm>
            <a:off x="6368796" y="4517136"/>
            <a:ext cx="4997196" cy="1371600"/>
          </a:xfrm>
          <a:prstGeom prst="rect">
            <a:avLst/>
          </a:prstGeom>
          <a:solidFill>
            <a:srgbClr val="EEF1F3"/>
          </a:solidFill>
          <a:ln/>
        </p:spPr>
      </p:sp>
      <p:sp>
        <p:nvSpPr>
          <p:cNvPr id="27" name="Shape 25"/>
          <p:cNvSpPr/>
          <p:nvPr/>
        </p:nvSpPr>
        <p:spPr>
          <a:xfrm>
            <a:off x="6368796" y="4517136"/>
            <a:ext cx="91440" cy="1371600"/>
          </a:xfrm>
          <a:prstGeom prst="rect">
            <a:avLst/>
          </a:prstGeom>
          <a:solidFill>
            <a:srgbClr val="5C6C75"/>
          </a:solidFill>
          <a:ln/>
        </p:spPr>
      </p:sp>
      <p:sp>
        <p:nvSpPr>
          <p:cNvPr id="28" name="Text 26"/>
          <p:cNvSpPr/>
          <p:nvPr/>
        </p:nvSpPr>
        <p:spPr>
          <a:xfrm>
            <a:off x="6688836" y="4700016"/>
            <a:ext cx="4494276" cy="384048"/>
          </a:xfrm>
          <a:prstGeom prst="rect">
            <a:avLst/>
          </a:prstGeom>
          <a:noFill/>
          <a:ln/>
        </p:spPr>
        <p:txBody>
          <a:bodyPr wrap="square" lIns="0" tIns="0" rIns="0" bIns="0" rtlCol="0" anchor="t"/>
          <a:lstStyle/>
          <a:p>
            <a:pPr indent="0" marL="0">
              <a:buNone/>
            </a:pPr>
            <a:r>
              <a:rPr lang="en-US" sz="2200" b="1" dirty="0">
                <a:solidFill>
                  <a:srgbClr val="001E2B"/>
                </a:solidFill>
                <a:latin typeface="Arial Narrow" pitchFamily="34" charset="0"/>
                <a:ea typeface="Arial Narrow" pitchFamily="34" charset="-122"/>
                <a:cs typeface="Arial Narrow" pitchFamily="34" charset="-120"/>
              </a:rPr>
              <a:t>DISCIPLINA</a:t>
            </a:r>
            <a:endParaRPr lang="en-US" sz="2200" dirty="0"/>
          </a:p>
        </p:txBody>
      </p:sp>
      <p:sp>
        <p:nvSpPr>
          <p:cNvPr id="29" name="Text 27"/>
          <p:cNvSpPr/>
          <p:nvPr/>
        </p:nvSpPr>
        <p:spPr>
          <a:xfrm>
            <a:off x="6688836" y="5111496"/>
            <a:ext cx="4494276" cy="731520"/>
          </a:xfrm>
          <a:prstGeom prst="rect">
            <a:avLst/>
          </a:prstGeom>
          <a:noFill/>
          <a:ln/>
        </p:spPr>
        <p:txBody>
          <a:bodyPr wrap="square" lIns="0" tIns="0" rIns="0" bIns="0" rtlCol="0" anchor="t"/>
          <a:lstStyle/>
          <a:p>
            <a:pPr indent="0" marL="0">
              <a:buNone/>
            </a:pPr>
            <a:r>
              <a:rPr lang="en-US" sz="1800" dirty="0">
                <a:solidFill>
                  <a:srgbClr val="1C2D38"/>
                </a:solidFill>
                <a:latin typeface="Calibri" pitchFamily="34" charset="0"/>
                <a:ea typeface="Calibri" pitchFamily="34" charset="-122"/>
                <a:cs typeface="Calibri" pitchFamily="34" charset="-120"/>
              </a:rPr>
              <a:t>La validación de esquema es opcional: si nadie la define, nadie la exige.</a:t>
            </a:r>
            <a:endParaRPr lang="en-US" sz="1800" dirty="0"/>
          </a:p>
        </p:txBody>
      </p:sp>
      <p:sp>
        <p:nvSpPr>
          <p:cNvPr id="30" name="Text 28"/>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09 / 12</a:t>
            </a:r>
            <a:endParaRPr lang="en-US" sz="1300" dirty="0"/>
          </a:p>
        </p:txBody>
      </p:sp>
      <p:sp>
        <p:nvSpPr>
          <p:cNvPr id="31" name="Text 29"/>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CUÁNDO NO CONVIENE</a:t>
            </a:r>
            <a:endParaRPr lang="en-US" sz="3600" dirty="0"/>
          </a:p>
        </p:txBody>
      </p:sp>
      <p:sp>
        <p:nvSpPr>
          <p:cNvPr id="4" name="Shape 2"/>
          <p:cNvSpPr/>
          <p:nvPr/>
        </p:nvSpPr>
        <p:spPr>
          <a:xfrm>
            <a:off x="822960" y="1325880"/>
            <a:ext cx="10543032" cy="1737360"/>
          </a:xfrm>
          <a:prstGeom prst="rect">
            <a:avLst/>
          </a:prstGeom>
          <a:solidFill>
            <a:srgbClr val="00684A"/>
          </a:solidFill>
          <a:ln/>
        </p:spPr>
      </p:sp>
      <p:sp>
        <p:nvSpPr>
          <p:cNvPr id="5" name="Text 3"/>
          <p:cNvSpPr/>
          <p:nvPr/>
        </p:nvSpPr>
        <p:spPr>
          <a:xfrm>
            <a:off x="1143000" y="1554480"/>
            <a:ext cx="4572000" cy="411480"/>
          </a:xfrm>
          <a:prstGeom prst="rect">
            <a:avLst/>
          </a:prstGeom>
          <a:noFill/>
          <a:ln/>
        </p:spPr>
        <p:txBody>
          <a:bodyPr wrap="square" lIns="0" tIns="0" rIns="0" bIns="0" rtlCol="0" anchor="t"/>
          <a:lstStyle/>
          <a:p>
            <a:pPr indent="0" marL="0">
              <a:buNone/>
            </a:pPr>
            <a:r>
              <a:rPr lang="en-US" sz="2600" b="1" dirty="0">
                <a:solidFill>
                  <a:srgbClr val="FFFFFF"/>
                </a:solidFill>
                <a:latin typeface="Arial Narrow" pitchFamily="34" charset="0"/>
                <a:ea typeface="Arial Narrow" pitchFamily="34" charset="-122"/>
                <a:cs typeface="Arial Narrow" pitchFamily="34" charset="-120"/>
              </a:rPr>
              <a:t>CONVIENE</a:t>
            </a:r>
            <a:endParaRPr lang="en-US" sz="2600" dirty="0"/>
          </a:p>
        </p:txBody>
      </p:sp>
      <p:sp>
        <p:nvSpPr>
          <p:cNvPr id="6" name="Text 4"/>
          <p:cNvSpPr/>
          <p:nvPr/>
        </p:nvSpPr>
        <p:spPr>
          <a:xfrm>
            <a:off x="1143000" y="2039112"/>
            <a:ext cx="9902952" cy="868680"/>
          </a:xfrm>
          <a:prstGeom prst="rect">
            <a:avLst/>
          </a:prstGeom>
          <a:noFill/>
          <a:ln/>
        </p:spPr>
        <p:txBody>
          <a:bodyPr wrap="square" lIns="0" tIns="0" rIns="0" bIns="0" rtlCol="0" anchor="t"/>
          <a:lstStyle/>
          <a:p>
            <a:pPr indent="0" marL="0">
              <a:buNone/>
            </a:pPr>
            <a:r>
              <a:rPr lang="en-US" sz="1900" dirty="0">
                <a:solidFill>
                  <a:srgbClr val="E3F2EC"/>
                </a:solidFill>
                <a:latin typeface="Calibri" pitchFamily="34" charset="0"/>
                <a:ea typeface="Calibri" pitchFamily="34" charset="-122"/>
                <a:cs typeface="Calibri" pitchFamily="34" charset="-120"/>
              </a:rPr>
              <a:t>Catálogos con atributos distintos, datos que cambian de forma y pantallas que leen un objeto completo de una vez.</a:t>
            </a:r>
            <a:endParaRPr lang="en-US" sz="1900" dirty="0"/>
          </a:p>
        </p:txBody>
      </p:sp>
      <p:sp>
        <p:nvSpPr>
          <p:cNvPr id="7" name="Shape 5"/>
          <p:cNvSpPr/>
          <p:nvPr/>
        </p:nvSpPr>
        <p:spPr>
          <a:xfrm>
            <a:off x="822960" y="3264408"/>
            <a:ext cx="10543032" cy="91440"/>
          </a:xfrm>
          <a:prstGeom prst="rect">
            <a:avLst/>
          </a:prstGeom>
          <a:solidFill>
            <a:srgbClr val="00ED64"/>
          </a:solidFill>
          <a:ln/>
        </p:spPr>
      </p:sp>
      <p:sp>
        <p:nvSpPr>
          <p:cNvPr id="8" name="Shape 6"/>
          <p:cNvSpPr/>
          <p:nvPr/>
        </p:nvSpPr>
        <p:spPr>
          <a:xfrm>
            <a:off x="4128516" y="3090672"/>
            <a:ext cx="3931920" cy="438912"/>
          </a:xfrm>
          <a:prstGeom prst="roundRect">
            <a:avLst>
              <a:gd name="adj" fmla="val 50000"/>
            </a:avLst>
          </a:prstGeom>
          <a:solidFill>
            <a:srgbClr val="001E2B"/>
          </a:solidFill>
          <a:ln/>
        </p:spPr>
      </p:sp>
      <p:sp>
        <p:nvSpPr>
          <p:cNvPr id="9" name="Text 7"/>
          <p:cNvSpPr/>
          <p:nvPr/>
        </p:nvSpPr>
        <p:spPr>
          <a:xfrm>
            <a:off x="4128516" y="3090672"/>
            <a:ext cx="393192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Narrow" pitchFamily="34" charset="0"/>
                <a:ea typeface="Arial Narrow" pitchFamily="34" charset="-122"/>
                <a:cs typeface="Arial Narrow" pitchFamily="34" charset="-120"/>
              </a:rPr>
              <a:t>HASTA AQUÍ CONVIENE MONGODB</a:t>
            </a:r>
            <a:endParaRPr lang="en-US" sz="1600" dirty="0"/>
          </a:p>
        </p:txBody>
      </p:sp>
      <p:sp>
        <p:nvSpPr>
          <p:cNvPr id="10" name="Shape 8"/>
          <p:cNvSpPr/>
          <p:nvPr/>
        </p:nvSpPr>
        <p:spPr>
          <a:xfrm>
            <a:off x="822960" y="3602736"/>
            <a:ext cx="10543032" cy="2386584"/>
          </a:xfrm>
          <a:prstGeom prst="rect">
            <a:avLst/>
          </a:prstGeom>
          <a:solidFill>
            <a:srgbClr val="EEF1F3"/>
          </a:solidFill>
          <a:ln/>
        </p:spPr>
      </p:sp>
      <p:sp>
        <p:nvSpPr>
          <p:cNvPr id="11" name="Text 9"/>
          <p:cNvSpPr/>
          <p:nvPr/>
        </p:nvSpPr>
        <p:spPr>
          <a:xfrm>
            <a:off x="1143000" y="3803904"/>
            <a:ext cx="7315200" cy="384048"/>
          </a:xfrm>
          <a:prstGeom prst="rect">
            <a:avLst/>
          </a:prstGeom>
          <a:noFill/>
          <a:ln/>
        </p:spPr>
        <p:txBody>
          <a:bodyPr wrap="square" lIns="0" tIns="0" rIns="0" bIns="0" rtlCol="0" anchor="t"/>
          <a:lstStyle/>
          <a:p>
            <a:pPr indent="0" marL="0">
              <a:buNone/>
            </a:pPr>
            <a:r>
              <a:rPr lang="en-US" sz="2400" b="1" dirty="0">
                <a:solidFill>
                  <a:srgbClr val="001E2B"/>
                </a:solidFill>
                <a:latin typeface="Arial Narrow" pitchFamily="34" charset="0"/>
                <a:ea typeface="Arial Narrow" pitchFamily="34" charset="-122"/>
                <a:cs typeface="Arial Narrow" pitchFamily="34" charset="-120"/>
              </a:rPr>
              <a:t>MEJOR UN MODELO RELACIONAL</a:t>
            </a:r>
            <a:endParaRPr lang="en-US" sz="2400" dirty="0"/>
          </a:p>
        </p:txBody>
      </p:sp>
      <p:sp>
        <p:nvSpPr>
          <p:cNvPr id="12" name="Shape 10"/>
          <p:cNvSpPr/>
          <p:nvPr/>
        </p:nvSpPr>
        <p:spPr>
          <a:xfrm>
            <a:off x="1143000" y="4379976"/>
            <a:ext cx="54864" cy="1417320"/>
          </a:xfrm>
          <a:prstGeom prst="rect">
            <a:avLst/>
          </a:prstGeom>
          <a:solidFill>
            <a:srgbClr val="5C6C75"/>
          </a:solidFill>
          <a:ln/>
        </p:spPr>
      </p:sp>
      <p:sp>
        <p:nvSpPr>
          <p:cNvPr id="13" name="Text 11"/>
          <p:cNvSpPr/>
          <p:nvPr/>
        </p:nvSpPr>
        <p:spPr>
          <a:xfrm>
            <a:off x="1325880" y="4379976"/>
            <a:ext cx="2935224" cy="365760"/>
          </a:xfrm>
          <a:prstGeom prst="rect">
            <a:avLst/>
          </a:prstGeom>
          <a:noFill/>
          <a:ln/>
        </p:spPr>
        <p:txBody>
          <a:bodyPr wrap="square" lIns="0" tIns="0" rIns="0" bIns="0" rtlCol="0" anchor="t"/>
          <a:lstStyle/>
          <a:p>
            <a:pPr indent="0" marL="0">
              <a:buNone/>
            </a:pPr>
            <a:r>
              <a:rPr lang="en-US" sz="1900" b="1" dirty="0">
                <a:solidFill>
                  <a:srgbClr val="00684A"/>
                </a:solidFill>
                <a:latin typeface="Arial Narrow" pitchFamily="34" charset="0"/>
                <a:ea typeface="Arial Narrow" pitchFamily="34" charset="-122"/>
                <a:cs typeface="Arial Narrow" pitchFamily="34" charset="-120"/>
              </a:rPr>
              <a:t>MUCHAS RELACIONES</a:t>
            </a:r>
            <a:endParaRPr lang="en-US" sz="1900" dirty="0"/>
          </a:p>
        </p:txBody>
      </p:sp>
      <p:sp>
        <p:nvSpPr>
          <p:cNvPr id="14" name="Text 12"/>
          <p:cNvSpPr/>
          <p:nvPr/>
        </p:nvSpPr>
        <p:spPr>
          <a:xfrm>
            <a:off x="1325880" y="4773168"/>
            <a:ext cx="2935224" cy="1005840"/>
          </a:xfrm>
          <a:prstGeom prst="rect">
            <a:avLst/>
          </a:prstGeom>
          <a:noFill/>
          <a:ln/>
        </p:spPr>
        <p:txBody>
          <a:bodyPr wrap="square" lIns="0" tIns="0" rIns="0" bIns="0" rtlCol="0" anchor="t"/>
          <a:lstStyle/>
          <a:p>
            <a:pPr indent="0" marL="0">
              <a:buNone/>
            </a:pPr>
            <a:r>
              <a:rPr lang="en-US" sz="1700" dirty="0">
                <a:solidFill>
                  <a:srgbClr val="5C6C75"/>
                </a:solidFill>
                <a:latin typeface="Calibri" pitchFamily="34" charset="0"/>
                <a:ea typeface="Calibri" pitchFamily="34" charset="-122"/>
                <a:cs typeface="Calibri" pitchFamily="34" charset="-120"/>
              </a:rPr>
              <a:t>Muchas tablas ligadas entre sí, con JOIN en casi cada consulta.</a:t>
            </a:r>
            <a:endParaRPr lang="en-US" sz="1700" dirty="0"/>
          </a:p>
        </p:txBody>
      </p:sp>
      <p:sp>
        <p:nvSpPr>
          <p:cNvPr id="15" name="Shape 13"/>
          <p:cNvSpPr/>
          <p:nvPr/>
        </p:nvSpPr>
        <p:spPr>
          <a:xfrm>
            <a:off x="4535424" y="4379976"/>
            <a:ext cx="54864" cy="1417320"/>
          </a:xfrm>
          <a:prstGeom prst="rect">
            <a:avLst/>
          </a:prstGeom>
          <a:solidFill>
            <a:srgbClr val="5C6C75"/>
          </a:solidFill>
          <a:ln/>
        </p:spPr>
      </p:sp>
      <p:sp>
        <p:nvSpPr>
          <p:cNvPr id="16" name="Text 14"/>
          <p:cNvSpPr/>
          <p:nvPr/>
        </p:nvSpPr>
        <p:spPr>
          <a:xfrm>
            <a:off x="4718304" y="4379976"/>
            <a:ext cx="2935224" cy="365760"/>
          </a:xfrm>
          <a:prstGeom prst="rect">
            <a:avLst/>
          </a:prstGeom>
          <a:noFill/>
          <a:ln/>
        </p:spPr>
        <p:txBody>
          <a:bodyPr wrap="square" lIns="0" tIns="0" rIns="0" bIns="0" rtlCol="0" anchor="t"/>
          <a:lstStyle/>
          <a:p>
            <a:pPr indent="0" marL="0">
              <a:buNone/>
            </a:pPr>
            <a:r>
              <a:rPr lang="en-US" sz="1900" b="1" dirty="0">
                <a:solidFill>
                  <a:srgbClr val="00684A"/>
                </a:solidFill>
                <a:latin typeface="Arial Narrow" pitchFamily="34" charset="0"/>
                <a:ea typeface="Arial Narrow" pitchFamily="34" charset="-122"/>
                <a:cs typeface="Arial Narrow" pitchFamily="34" charset="-120"/>
              </a:rPr>
              <a:t>ESQUEMA RÍGIDO</a:t>
            </a:r>
            <a:endParaRPr lang="en-US" sz="1900" dirty="0"/>
          </a:p>
        </p:txBody>
      </p:sp>
      <p:sp>
        <p:nvSpPr>
          <p:cNvPr id="17" name="Text 15"/>
          <p:cNvSpPr/>
          <p:nvPr/>
        </p:nvSpPr>
        <p:spPr>
          <a:xfrm>
            <a:off x="4718304" y="4773168"/>
            <a:ext cx="2935224" cy="1005840"/>
          </a:xfrm>
          <a:prstGeom prst="rect">
            <a:avLst/>
          </a:prstGeom>
          <a:noFill/>
          <a:ln/>
        </p:spPr>
        <p:txBody>
          <a:bodyPr wrap="square" lIns="0" tIns="0" rIns="0" bIns="0" rtlCol="0" anchor="t"/>
          <a:lstStyle/>
          <a:p>
            <a:pPr indent="0" marL="0">
              <a:buNone/>
            </a:pPr>
            <a:r>
              <a:rPr lang="en-US" sz="1700" dirty="0">
                <a:solidFill>
                  <a:srgbClr val="5C6C75"/>
                </a:solidFill>
                <a:latin typeface="Calibri" pitchFamily="34" charset="0"/>
                <a:ea typeface="Calibri" pitchFamily="34" charset="-122"/>
                <a:cs typeface="Calibri" pitchFamily="34" charset="-120"/>
              </a:rPr>
              <a:t>Datos que deben cumplir siempre la misma estructura.</a:t>
            </a:r>
            <a:endParaRPr lang="en-US" sz="1700" dirty="0"/>
          </a:p>
        </p:txBody>
      </p:sp>
      <p:sp>
        <p:nvSpPr>
          <p:cNvPr id="18" name="Shape 16"/>
          <p:cNvSpPr/>
          <p:nvPr/>
        </p:nvSpPr>
        <p:spPr>
          <a:xfrm>
            <a:off x="7927848" y="4379976"/>
            <a:ext cx="54864" cy="1417320"/>
          </a:xfrm>
          <a:prstGeom prst="rect">
            <a:avLst/>
          </a:prstGeom>
          <a:solidFill>
            <a:srgbClr val="5C6C75"/>
          </a:solidFill>
          <a:ln/>
        </p:spPr>
      </p:sp>
      <p:sp>
        <p:nvSpPr>
          <p:cNvPr id="19" name="Text 17"/>
          <p:cNvSpPr/>
          <p:nvPr/>
        </p:nvSpPr>
        <p:spPr>
          <a:xfrm>
            <a:off x="8110728" y="4379976"/>
            <a:ext cx="2935224" cy="365760"/>
          </a:xfrm>
          <a:prstGeom prst="rect">
            <a:avLst/>
          </a:prstGeom>
          <a:noFill/>
          <a:ln/>
        </p:spPr>
        <p:txBody>
          <a:bodyPr wrap="square" lIns="0" tIns="0" rIns="0" bIns="0" rtlCol="0" anchor="t"/>
          <a:lstStyle/>
          <a:p>
            <a:pPr indent="0" marL="0">
              <a:buNone/>
            </a:pPr>
            <a:r>
              <a:rPr lang="en-US" sz="1900" b="1" dirty="0">
                <a:solidFill>
                  <a:srgbClr val="00684A"/>
                </a:solidFill>
                <a:latin typeface="Arial Narrow" pitchFamily="34" charset="0"/>
                <a:ea typeface="Arial Narrow" pitchFamily="34" charset="-122"/>
                <a:cs typeface="Arial Narrow" pitchFamily="34" charset="-120"/>
              </a:rPr>
              <a:t>TRANSACCIONES</a:t>
            </a:r>
            <a:endParaRPr lang="en-US" sz="1900" dirty="0"/>
          </a:p>
        </p:txBody>
      </p:sp>
      <p:sp>
        <p:nvSpPr>
          <p:cNvPr id="20" name="Text 18"/>
          <p:cNvSpPr/>
          <p:nvPr/>
        </p:nvSpPr>
        <p:spPr>
          <a:xfrm>
            <a:off x="8110728" y="4773168"/>
            <a:ext cx="2935224" cy="1005840"/>
          </a:xfrm>
          <a:prstGeom prst="rect">
            <a:avLst/>
          </a:prstGeom>
          <a:noFill/>
          <a:ln/>
        </p:spPr>
        <p:txBody>
          <a:bodyPr wrap="square" lIns="0" tIns="0" rIns="0" bIns="0" rtlCol="0" anchor="t"/>
          <a:lstStyle/>
          <a:p>
            <a:pPr indent="0" marL="0">
              <a:buNone/>
            </a:pPr>
            <a:r>
              <a:rPr lang="en-US" sz="1700" dirty="0">
                <a:solidFill>
                  <a:srgbClr val="5C6C75"/>
                </a:solidFill>
                <a:latin typeface="Calibri" pitchFamily="34" charset="0"/>
                <a:ea typeface="Calibri" pitchFamily="34" charset="-122"/>
                <a:cs typeface="Calibri" pitchFamily="34" charset="-120"/>
              </a:rPr>
              <a:t>Operaciones sobre muchos documentos a la vez como núcleo del sistema.</a:t>
            </a:r>
            <a:endParaRPr lang="en-US" sz="1700" dirty="0"/>
          </a:p>
        </p:txBody>
      </p:sp>
      <p:sp>
        <p:nvSpPr>
          <p:cNvPr id="21" name="Text 19"/>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10 / 12</a:t>
            </a:r>
            <a:endParaRPr lang="en-US" sz="1300" dirty="0"/>
          </a:p>
        </p:txBody>
      </p:sp>
      <p:sp>
        <p:nvSpPr>
          <p:cNvPr id="22" name="Text 20"/>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64592" y="365760"/>
            <a:ext cx="384048" cy="5852160"/>
          </a:xfrm>
          <a:prstGeom prst="rect">
            <a:avLst/>
          </a:prstGeom>
          <a:noFill/>
          <a:ln/>
        </p:spPr>
        <p:txBody>
          <a:bodyPr wrap="square" lIns="0" tIns="0" rIns="0" bIns="0" rtlCol="0" anchor="t"/>
          <a:lstStyle/>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11</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12</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13</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14</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15</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16</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17</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18</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19</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20</a:t>
            </a:r>
            <a:endParaRPr lang="en-US" sz="900" dirty="0"/>
          </a:p>
          <a:p>
            <a:pPr algn="r" indent="0" marL="0">
              <a:lnSpc>
                <a:spcPts val="2160"/>
              </a:lnSpc>
              <a:buNone/>
            </a:pPr>
            <a:r>
              <a:rPr lang="en-US" sz="900" dirty="0">
                <a:solidFill>
                  <a:srgbClr val="DCE3E5"/>
                </a:solidFill>
                <a:latin typeface="Consolas" pitchFamily="34" charset="0"/>
                <a:ea typeface="Consolas" pitchFamily="34" charset="-122"/>
                <a:cs typeface="Consolas" pitchFamily="34" charset="-120"/>
              </a:rPr>
              <a:t>21</a:t>
            </a:r>
            <a:endParaRPr lang="en-US" sz="900" dirty="0"/>
          </a:p>
        </p:txBody>
      </p:sp>
      <p:sp>
        <p:nvSpPr>
          <p:cNvPr id="3" name="Text 1"/>
          <p:cNvSpPr/>
          <p:nvPr/>
        </p:nvSpPr>
        <p:spPr>
          <a:xfrm>
            <a:off x="822960" y="411480"/>
            <a:ext cx="10543032" cy="685800"/>
          </a:xfrm>
          <a:prstGeom prst="rect">
            <a:avLst/>
          </a:prstGeom>
          <a:noFill/>
          <a:ln/>
        </p:spPr>
        <p:txBody>
          <a:bodyPr wrap="square" lIns="0" tIns="0" rIns="0" bIns="0" rtlCol="0" anchor="ctr"/>
          <a:lstStyle/>
          <a:p>
            <a:pPr indent="0" marL="0">
              <a:buNone/>
            </a:pPr>
            <a:r>
              <a:rPr lang="en-US" sz="3600" b="1" dirty="0">
                <a:solidFill>
                  <a:srgbClr val="00684A"/>
                </a:solidFill>
                <a:latin typeface="Arial Narrow" pitchFamily="34" charset="0"/>
                <a:ea typeface="Arial Narrow" pitchFamily="34" charset="-122"/>
                <a:cs typeface="Arial Narrow" pitchFamily="34" charset="-120"/>
              </a:rPr>
              <a:t>FUENTES CONSULTADAS</a:t>
            </a:r>
            <a:endParaRPr lang="en-US" sz="3600" dirty="0"/>
          </a:p>
        </p:txBody>
      </p:sp>
      <p:sp>
        <p:nvSpPr>
          <p:cNvPr id="4" name="Shape 2"/>
          <p:cNvSpPr/>
          <p:nvPr/>
        </p:nvSpPr>
        <p:spPr>
          <a:xfrm>
            <a:off x="822960" y="1325880"/>
            <a:ext cx="3392424" cy="4160520"/>
          </a:xfrm>
          <a:prstGeom prst="rect">
            <a:avLst/>
          </a:prstGeom>
          <a:solidFill>
            <a:srgbClr val="EBF5F2"/>
          </a:solidFill>
          <a:ln/>
        </p:spPr>
      </p:sp>
      <p:sp>
        <p:nvSpPr>
          <p:cNvPr id="5" name="Shape 3"/>
          <p:cNvSpPr/>
          <p:nvPr/>
        </p:nvSpPr>
        <p:spPr>
          <a:xfrm>
            <a:off x="1097280" y="1600200"/>
            <a:ext cx="731520" cy="731520"/>
          </a:xfrm>
          <a:prstGeom prst="ellipse">
            <a:avLst/>
          </a:prstGeom>
          <a:solidFill>
            <a:srgbClr val="00684A"/>
          </a:solidFill>
          <a:ln/>
        </p:spPr>
      </p:sp>
      <p:pic>
        <p:nvPicPr>
          <p:cNvPr id="6" name="Image 0" descr="icon_code.png">    </p:cNvPr>
          <p:cNvPicPr>
            <a:picLocks noChangeAspect="1"/>
          </p:cNvPicPr>
          <p:nvPr/>
        </p:nvPicPr>
        <p:blipFill>
          <a:blip r:embed="rId1"/>
          <a:stretch>
            <a:fillRect/>
          </a:stretch>
        </p:blipFill>
        <p:spPr>
          <a:xfrm>
            <a:off x="1280160" y="1783080"/>
            <a:ext cx="365760" cy="365760"/>
          </a:xfrm>
          <a:prstGeom prst="rect">
            <a:avLst/>
          </a:prstGeom>
        </p:spPr>
      </p:pic>
      <p:sp>
        <p:nvSpPr>
          <p:cNvPr id="7" name="Text 4"/>
          <p:cNvSpPr/>
          <p:nvPr/>
        </p:nvSpPr>
        <p:spPr>
          <a:xfrm>
            <a:off x="3026664" y="1600200"/>
            <a:ext cx="914400" cy="731520"/>
          </a:xfrm>
          <a:prstGeom prst="rect">
            <a:avLst/>
          </a:prstGeom>
          <a:noFill/>
          <a:ln/>
        </p:spPr>
        <p:txBody>
          <a:bodyPr wrap="square" lIns="0" tIns="0" rIns="0" bIns="0" rtlCol="0" anchor="ctr"/>
          <a:lstStyle/>
          <a:p>
            <a:pPr algn="r" indent="0" marL="0">
              <a:buNone/>
            </a:pPr>
            <a:r>
              <a:rPr lang="en-US" sz="3000" b="1" dirty="0">
                <a:solidFill>
                  <a:srgbClr val="00684A"/>
                </a:solidFill>
                <a:latin typeface="Arial Narrow" pitchFamily="34" charset="0"/>
                <a:ea typeface="Arial Narrow" pitchFamily="34" charset="-122"/>
                <a:cs typeface="Arial Narrow" pitchFamily="34" charset="-120"/>
              </a:rPr>
              <a:t>01</a:t>
            </a:r>
            <a:endParaRPr lang="en-US" sz="3000" dirty="0"/>
          </a:p>
        </p:txBody>
      </p:sp>
      <p:sp>
        <p:nvSpPr>
          <p:cNvPr id="8" name="Text 5"/>
          <p:cNvSpPr/>
          <p:nvPr/>
        </p:nvSpPr>
        <p:spPr>
          <a:xfrm>
            <a:off x="1097280" y="2560320"/>
            <a:ext cx="2843784" cy="1097280"/>
          </a:xfrm>
          <a:prstGeom prst="rect">
            <a:avLst/>
          </a:prstGeom>
          <a:noFill/>
          <a:ln/>
        </p:spPr>
        <p:txBody>
          <a:bodyPr wrap="square" lIns="0" tIns="0" rIns="0" bIns="0" rtlCol="0" anchor="t"/>
          <a:lstStyle/>
          <a:p>
            <a:pPr indent="0" marL="0">
              <a:buNone/>
            </a:pPr>
            <a:r>
              <a:rPr lang="en-US" sz="2100" b="1" dirty="0">
                <a:solidFill>
                  <a:srgbClr val="001E2B"/>
                </a:solidFill>
                <a:latin typeface="Arial Narrow" pitchFamily="34" charset="0"/>
                <a:ea typeface="Arial Narrow" pitchFamily="34" charset="-122"/>
                <a:cs typeface="Arial Narrow" pitchFamily="34" charset="-120"/>
              </a:rPr>
              <a:t>GET STARTED WITH THE NODE.JS DRIVER</a:t>
            </a:r>
            <a:endParaRPr lang="en-US" sz="2100" dirty="0"/>
          </a:p>
        </p:txBody>
      </p:sp>
      <p:sp>
        <p:nvSpPr>
          <p:cNvPr id="9" name="Text 6"/>
          <p:cNvSpPr/>
          <p:nvPr/>
        </p:nvSpPr>
        <p:spPr>
          <a:xfrm>
            <a:off x="1097280" y="3703320"/>
            <a:ext cx="2843784" cy="320040"/>
          </a:xfrm>
          <a:prstGeom prst="rect">
            <a:avLst/>
          </a:prstGeom>
          <a:noFill/>
          <a:ln/>
        </p:spPr>
        <p:txBody>
          <a:bodyPr wrap="square" lIns="0" tIns="0" rIns="0" bIns="0" rtlCol="0" anchor="t"/>
          <a:lstStyle/>
          <a:p>
            <a:pPr indent="0" marL="0">
              <a:buNone/>
            </a:pPr>
            <a:r>
              <a:rPr lang="en-US" sz="1600" i="1" dirty="0">
                <a:solidFill>
                  <a:srgbClr val="5C6C75"/>
                </a:solidFill>
                <a:latin typeface="Calibri" pitchFamily="34" charset="0"/>
                <a:ea typeface="Calibri" pitchFamily="34" charset="-122"/>
                <a:cs typeface="Calibri" pitchFamily="34" charset="-120"/>
              </a:rPr>
              <a:t>MongoDB Docs</a:t>
            </a:r>
            <a:endParaRPr lang="en-US" sz="1600" dirty="0"/>
          </a:p>
        </p:txBody>
      </p:sp>
      <p:sp>
        <p:nvSpPr>
          <p:cNvPr id="10" name="Text 7"/>
          <p:cNvSpPr/>
          <p:nvPr/>
        </p:nvSpPr>
        <p:spPr>
          <a:xfrm>
            <a:off x="1097280" y="4069080"/>
            <a:ext cx="2843784" cy="822960"/>
          </a:xfrm>
          <a:prstGeom prst="rect">
            <a:avLst/>
          </a:prstGeom>
          <a:noFill/>
          <a:ln/>
        </p:spPr>
        <p:txBody>
          <a:bodyPr wrap="square" lIns="0" tIns="0" rIns="0" bIns="0" rtlCol="0" anchor="t"/>
          <a:lstStyle/>
          <a:p>
            <a:pPr indent="0" marL="0">
              <a:buNone/>
            </a:pPr>
            <a:r>
              <a:rPr lang="en-US" sz="1700" dirty="0">
                <a:solidFill>
                  <a:srgbClr val="1C2D38"/>
                </a:solidFill>
                <a:latin typeface="Calibri" pitchFamily="34" charset="0"/>
                <a:ea typeface="Calibri" pitchFamily="34" charset="-122"/>
                <a:cs typeface="Calibri" pitchFamily="34" charset="-120"/>
              </a:rPr>
              <a:t>Instalación, Atlas, usuario y cadena de conexión.</a:t>
            </a:r>
            <a:endParaRPr lang="en-US" sz="1700" dirty="0"/>
          </a:p>
        </p:txBody>
      </p:sp>
      <p:sp>
        <p:nvSpPr>
          <p:cNvPr id="11" name="Text 8">
            <a:hlinkClick r:id="rId2" tooltip=""/>
          </p:cNvPr>
          <p:cNvSpPr/>
          <p:nvPr/>
        </p:nvSpPr>
        <p:spPr>
          <a:xfrm>
            <a:off x="1097280" y="4965192"/>
            <a:ext cx="2843784" cy="457200"/>
          </a:xfrm>
          <a:prstGeom prst="rect">
            <a:avLst/>
          </a:prstGeom>
          <a:noFill/>
          <a:ln/>
        </p:spPr>
        <p:txBody>
          <a:bodyPr wrap="square" lIns="0" tIns="0" rIns="0" bIns="0" rtlCol="0" anchor="t"/>
          <a:lstStyle/>
          <a:p>
            <a:pPr indent="0" marL="0">
              <a:buNone/>
            </a:pPr>
            <a:r>
              <a:rPr lang="en-US" sz="1400" u="sng" dirty="0">
                <a:solidFill>
                  <a:srgbClr val="00684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https://www.mongodb.com/docs/drivers/node/current/get-started/</a:t>
            </a:r>
            <a:endParaRPr lang="en-US" sz="1400" dirty="0"/>
          </a:p>
        </p:txBody>
      </p:sp>
      <p:sp>
        <p:nvSpPr>
          <p:cNvPr id="12" name="Shape 9"/>
          <p:cNvSpPr/>
          <p:nvPr/>
        </p:nvSpPr>
        <p:spPr>
          <a:xfrm>
            <a:off x="4398264" y="1325880"/>
            <a:ext cx="3392424" cy="4160520"/>
          </a:xfrm>
          <a:prstGeom prst="rect">
            <a:avLst/>
          </a:prstGeom>
          <a:solidFill>
            <a:srgbClr val="EBF5F2"/>
          </a:solidFill>
          <a:ln/>
        </p:spPr>
      </p:sp>
      <p:sp>
        <p:nvSpPr>
          <p:cNvPr id="13" name="Shape 10"/>
          <p:cNvSpPr/>
          <p:nvPr/>
        </p:nvSpPr>
        <p:spPr>
          <a:xfrm>
            <a:off x="4672584" y="1600200"/>
            <a:ext cx="731520" cy="731520"/>
          </a:xfrm>
          <a:prstGeom prst="ellipse">
            <a:avLst/>
          </a:prstGeom>
          <a:solidFill>
            <a:srgbClr val="00684A"/>
          </a:solidFill>
          <a:ln/>
        </p:spPr>
      </p:sp>
      <p:pic>
        <p:nvPicPr>
          <p:cNvPr id="14" name="Image 1" descr="icon_book.png">    </p:cNvPr>
          <p:cNvPicPr>
            <a:picLocks noChangeAspect="1"/>
          </p:cNvPicPr>
          <p:nvPr/>
        </p:nvPicPr>
        <p:blipFill>
          <a:blip r:embed="rId3"/>
          <a:stretch>
            <a:fillRect/>
          </a:stretch>
        </p:blipFill>
        <p:spPr>
          <a:xfrm>
            <a:off x="4855464" y="1783080"/>
            <a:ext cx="365760" cy="365760"/>
          </a:xfrm>
          <a:prstGeom prst="rect">
            <a:avLst/>
          </a:prstGeom>
        </p:spPr>
      </p:pic>
      <p:sp>
        <p:nvSpPr>
          <p:cNvPr id="15" name="Text 11"/>
          <p:cNvSpPr/>
          <p:nvPr/>
        </p:nvSpPr>
        <p:spPr>
          <a:xfrm>
            <a:off x="6601968" y="1600200"/>
            <a:ext cx="914400" cy="731520"/>
          </a:xfrm>
          <a:prstGeom prst="rect">
            <a:avLst/>
          </a:prstGeom>
          <a:noFill/>
          <a:ln/>
        </p:spPr>
        <p:txBody>
          <a:bodyPr wrap="square" lIns="0" tIns="0" rIns="0" bIns="0" rtlCol="0" anchor="ctr"/>
          <a:lstStyle/>
          <a:p>
            <a:pPr algn="r" indent="0" marL="0">
              <a:buNone/>
            </a:pPr>
            <a:r>
              <a:rPr lang="en-US" sz="3000" b="1" dirty="0">
                <a:solidFill>
                  <a:srgbClr val="00684A"/>
                </a:solidFill>
                <a:latin typeface="Arial Narrow" pitchFamily="34" charset="0"/>
                <a:ea typeface="Arial Narrow" pitchFamily="34" charset="-122"/>
                <a:cs typeface="Arial Narrow" pitchFamily="34" charset="-120"/>
              </a:rPr>
              <a:t>02</a:t>
            </a:r>
            <a:endParaRPr lang="en-US" sz="3000" dirty="0"/>
          </a:p>
        </p:txBody>
      </p:sp>
      <p:sp>
        <p:nvSpPr>
          <p:cNvPr id="16" name="Text 12"/>
          <p:cNvSpPr/>
          <p:nvPr/>
        </p:nvSpPr>
        <p:spPr>
          <a:xfrm>
            <a:off x="4672584" y="2560320"/>
            <a:ext cx="2843784" cy="1097280"/>
          </a:xfrm>
          <a:prstGeom prst="rect">
            <a:avLst/>
          </a:prstGeom>
          <a:noFill/>
          <a:ln/>
        </p:spPr>
        <p:txBody>
          <a:bodyPr wrap="square" lIns="0" tIns="0" rIns="0" bIns="0" rtlCol="0" anchor="t"/>
          <a:lstStyle/>
          <a:p>
            <a:pPr indent="0" marL="0">
              <a:buNone/>
            </a:pPr>
            <a:r>
              <a:rPr lang="en-US" sz="2100" b="1" dirty="0">
                <a:solidFill>
                  <a:srgbClr val="001E2B"/>
                </a:solidFill>
                <a:latin typeface="Arial Narrow" pitchFamily="34" charset="0"/>
                <a:ea typeface="Arial Narrow" pitchFamily="34" charset="-122"/>
                <a:cs typeface="Arial Narrow" pitchFamily="34" charset="-120"/>
              </a:rPr>
              <a:t>DATA MODELING IN MONGODB</a:t>
            </a:r>
            <a:endParaRPr lang="en-US" sz="2100" dirty="0"/>
          </a:p>
        </p:txBody>
      </p:sp>
      <p:sp>
        <p:nvSpPr>
          <p:cNvPr id="17" name="Text 13"/>
          <p:cNvSpPr/>
          <p:nvPr/>
        </p:nvSpPr>
        <p:spPr>
          <a:xfrm>
            <a:off x="4672584" y="3703320"/>
            <a:ext cx="2843784" cy="320040"/>
          </a:xfrm>
          <a:prstGeom prst="rect">
            <a:avLst/>
          </a:prstGeom>
          <a:noFill/>
          <a:ln/>
        </p:spPr>
        <p:txBody>
          <a:bodyPr wrap="square" lIns="0" tIns="0" rIns="0" bIns="0" rtlCol="0" anchor="t"/>
          <a:lstStyle/>
          <a:p>
            <a:pPr indent="0" marL="0">
              <a:buNone/>
            </a:pPr>
            <a:r>
              <a:rPr lang="en-US" sz="1600" i="1" dirty="0">
                <a:solidFill>
                  <a:srgbClr val="5C6C75"/>
                </a:solidFill>
                <a:latin typeface="Calibri" pitchFamily="34" charset="0"/>
                <a:ea typeface="Calibri" pitchFamily="34" charset="-122"/>
                <a:cs typeface="Calibri" pitchFamily="34" charset="-120"/>
              </a:rPr>
              <a:t>MongoDB Docs, Database Manual</a:t>
            </a:r>
            <a:endParaRPr lang="en-US" sz="1600" dirty="0"/>
          </a:p>
        </p:txBody>
      </p:sp>
      <p:sp>
        <p:nvSpPr>
          <p:cNvPr id="18" name="Text 14"/>
          <p:cNvSpPr/>
          <p:nvPr/>
        </p:nvSpPr>
        <p:spPr>
          <a:xfrm>
            <a:off x="4672584" y="4069080"/>
            <a:ext cx="2843784" cy="822960"/>
          </a:xfrm>
          <a:prstGeom prst="rect">
            <a:avLst/>
          </a:prstGeom>
          <a:noFill/>
          <a:ln/>
        </p:spPr>
        <p:txBody>
          <a:bodyPr wrap="square" lIns="0" tIns="0" rIns="0" bIns="0" rtlCol="0" anchor="t"/>
          <a:lstStyle/>
          <a:p>
            <a:pPr indent="0" marL="0">
              <a:buNone/>
            </a:pPr>
            <a:r>
              <a:rPr lang="en-US" sz="1700" dirty="0">
                <a:solidFill>
                  <a:srgbClr val="1C2D38"/>
                </a:solidFill>
                <a:latin typeface="Calibri" pitchFamily="34" charset="0"/>
                <a:ea typeface="Calibri" pitchFamily="34" charset="-122"/>
                <a:cs typeface="Calibri" pitchFamily="34" charset="-120"/>
              </a:rPr>
              <a:t>Esquema flexible, embeber, referenciar y diferencias con relacional.</a:t>
            </a:r>
            <a:endParaRPr lang="en-US" sz="1700" dirty="0"/>
          </a:p>
        </p:txBody>
      </p:sp>
      <p:sp>
        <p:nvSpPr>
          <p:cNvPr id="19" name="Text 15">
            <a:hlinkClick r:id="rId4" tooltip=""/>
          </p:cNvPr>
          <p:cNvSpPr/>
          <p:nvPr/>
        </p:nvSpPr>
        <p:spPr>
          <a:xfrm>
            <a:off x="4672584" y="4965192"/>
            <a:ext cx="2843784" cy="457200"/>
          </a:xfrm>
          <a:prstGeom prst="rect">
            <a:avLst/>
          </a:prstGeom>
          <a:noFill/>
          <a:ln/>
        </p:spPr>
        <p:txBody>
          <a:bodyPr wrap="square" lIns="0" tIns="0" rIns="0" bIns="0" rtlCol="0" anchor="t"/>
          <a:lstStyle/>
          <a:p>
            <a:pPr indent="0" marL="0">
              <a:buNone/>
            </a:pPr>
            <a:r>
              <a:rPr lang="en-US" sz="1400" u="sng" dirty="0">
                <a:solidFill>
                  <a:srgbClr val="00684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https://www.mongodb.com/docs/manual/data-modeling/</a:t>
            </a:r>
            <a:endParaRPr lang="en-US" sz="1400" dirty="0"/>
          </a:p>
        </p:txBody>
      </p:sp>
      <p:sp>
        <p:nvSpPr>
          <p:cNvPr id="20" name="Shape 16"/>
          <p:cNvSpPr/>
          <p:nvPr/>
        </p:nvSpPr>
        <p:spPr>
          <a:xfrm>
            <a:off x="7973568" y="1325880"/>
            <a:ext cx="3392424" cy="4160520"/>
          </a:xfrm>
          <a:prstGeom prst="rect">
            <a:avLst/>
          </a:prstGeom>
          <a:solidFill>
            <a:srgbClr val="EBF5F2"/>
          </a:solidFill>
          <a:ln/>
        </p:spPr>
      </p:sp>
      <p:sp>
        <p:nvSpPr>
          <p:cNvPr id="21" name="Shape 17"/>
          <p:cNvSpPr/>
          <p:nvPr/>
        </p:nvSpPr>
        <p:spPr>
          <a:xfrm>
            <a:off x="8247888" y="1600200"/>
            <a:ext cx="731520" cy="731520"/>
          </a:xfrm>
          <a:prstGeom prst="ellipse">
            <a:avLst/>
          </a:prstGeom>
          <a:solidFill>
            <a:srgbClr val="00684A"/>
          </a:solidFill>
          <a:ln/>
        </p:spPr>
      </p:sp>
      <p:pic>
        <p:nvPicPr>
          <p:cNvPr id="22" name="Image 2" descr="icon_grad.png">    </p:cNvPr>
          <p:cNvPicPr>
            <a:picLocks noChangeAspect="1"/>
          </p:cNvPicPr>
          <p:nvPr/>
        </p:nvPicPr>
        <p:blipFill>
          <a:blip r:embed="rId5"/>
          <a:stretch>
            <a:fillRect/>
          </a:stretch>
        </p:blipFill>
        <p:spPr>
          <a:xfrm>
            <a:off x="8430768" y="1783080"/>
            <a:ext cx="365760" cy="365760"/>
          </a:xfrm>
          <a:prstGeom prst="rect">
            <a:avLst/>
          </a:prstGeom>
        </p:spPr>
      </p:pic>
      <p:sp>
        <p:nvSpPr>
          <p:cNvPr id="23" name="Text 18"/>
          <p:cNvSpPr/>
          <p:nvPr/>
        </p:nvSpPr>
        <p:spPr>
          <a:xfrm>
            <a:off x="10177272" y="1600200"/>
            <a:ext cx="914400" cy="731520"/>
          </a:xfrm>
          <a:prstGeom prst="rect">
            <a:avLst/>
          </a:prstGeom>
          <a:noFill/>
          <a:ln/>
        </p:spPr>
        <p:txBody>
          <a:bodyPr wrap="square" lIns="0" tIns="0" rIns="0" bIns="0" rtlCol="0" anchor="ctr"/>
          <a:lstStyle/>
          <a:p>
            <a:pPr algn="r" indent="0" marL="0">
              <a:buNone/>
            </a:pPr>
            <a:r>
              <a:rPr lang="en-US" sz="3000" b="1" dirty="0">
                <a:solidFill>
                  <a:srgbClr val="00684A"/>
                </a:solidFill>
                <a:latin typeface="Arial Narrow" pitchFamily="34" charset="0"/>
                <a:ea typeface="Arial Narrow" pitchFamily="34" charset="-122"/>
                <a:cs typeface="Arial Narrow" pitchFamily="34" charset="-120"/>
              </a:rPr>
              <a:t>03</a:t>
            </a:r>
            <a:endParaRPr lang="en-US" sz="3000" dirty="0"/>
          </a:p>
        </p:txBody>
      </p:sp>
      <p:sp>
        <p:nvSpPr>
          <p:cNvPr id="24" name="Text 19"/>
          <p:cNvSpPr/>
          <p:nvPr/>
        </p:nvSpPr>
        <p:spPr>
          <a:xfrm>
            <a:off x="8247888" y="2560320"/>
            <a:ext cx="2843784" cy="1097280"/>
          </a:xfrm>
          <a:prstGeom prst="rect">
            <a:avLst/>
          </a:prstGeom>
          <a:noFill/>
          <a:ln/>
        </p:spPr>
        <p:txBody>
          <a:bodyPr wrap="square" lIns="0" tIns="0" rIns="0" bIns="0" rtlCol="0" anchor="t"/>
          <a:lstStyle/>
          <a:p>
            <a:pPr indent="0" marL="0">
              <a:buNone/>
            </a:pPr>
            <a:r>
              <a:rPr lang="en-US" sz="2100" b="1" dirty="0">
                <a:solidFill>
                  <a:srgbClr val="001E2B"/>
                </a:solidFill>
                <a:latin typeface="Arial Narrow" pitchFamily="34" charset="0"/>
                <a:ea typeface="Arial Narrow" pitchFamily="34" charset="-122"/>
                <a:cs typeface="Arial Narrow" pitchFamily="34" charset="-120"/>
              </a:rPr>
              <a:t>CONNECTING TO MONGODB IN NODE.JS</a:t>
            </a:r>
            <a:endParaRPr lang="en-US" sz="2100" dirty="0"/>
          </a:p>
        </p:txBody>
      </p:sp>
      <p:sp>
        <p:nvSpPr>
          <p:cNvPr id="25" name="Text 20"/>
          <p:cNvSpPr/>
          <p:nvPr/>
        </p:nvSpPr>
        <p:spPr>
          <a:xfrm>
            <a:off x="8247888" y="3703320"/>
            <a:ext cx="2843784" cy="320040"/>
          </a:xfrm>
          <a:prstGeom prst="rect">
            <a:avLst/>
          </a:prstGeom>
          <a:noFill/>
          <a:ln/>
        </p:spPr>
        <p:txBody>
          <a:bodyPr wrap="square" lIns="0" tIns="0" rIns="0" bIns="0" rtlCol="0" anchor="t"/>
          <a:lstStyle/>
          <a:p>
            <a:pPr indent="0" marL="0">
              <a:buNone/>
            </a:pPr>
            <a:r>
              <a:rPr lang="en-US" sz="1600" i="1" dirty="0">
                <a:solidFill>
                  <a:srgbClr val="5C6C75"/>
                </a:solidFill>
                <a:latin typeface="Calibri" pitchFamily="34" charset="0"/>
                <a:ea typeface="Calibri" pitchFamily="34" charset="-122"/>
                <a:cs typeface="Calibri" pitchFamily="34" charset="-120"/>
              </a:rPr>
              <a:t>MongoDB University</a:t>
            </a:r>
            <a:endParaRPr lang="en-US" sz="1600" dirty="0"/>
          </a:p>
        </p:txBody>
      </p:sp>
      <p:sp>
        <p:nvSpPr>
          <p:cNvPr id="26" name="Text 21"/>
          <p:cNvSpPr/>
          <p:nvPr/>
        </p:nvSpPr>
        <p:spPr>
          <a:xfrm>
            <a:off x="8247888" y="4069080"/>
            <a:ext cx="2843784" cy="822960"/>
          </a:xfrm>
          <a:prstGeom prst="rect">
            <a:avLst/>
          </a:prstGeom>
          <a:noFill/>
          <a:ln/>
        </p:spPr>
        <p:txBody>
          <a:bodyPr wrap="square" lIns="0" tIns="0" rIns="0" bIns="0" rtlCol="0" anchor="t"/>
          <a:lstStyle/>
          <a:p>
            <a:pPr indent="0" marL="0">
              <a:buNone/>
            </a:pPr>
            <a:r>
              <a:rPr lang="en-US" sz="1700" dirty="0">
                <a:solidFill>
                  <a:srgbClr val="1C2D38"/>
                </a:solidFill>
                <a:latin typeface="Calibri" pitchFamily="34" charset="0"/>
                <a:ea typeface="Calibri" pitchFamily="34" charset="-122"/>
                <a:cs typeface="Calibri" pitchFamily="34" charset="-120"/>
              </a:rPr>
              <a:t>Uso del driver, buenas prácticas del MongoClient y errores de conexión.</a:t>
            </a:r>
            <a:endParaRPr lang="en-US" sz="1700" dirty="0"/>
          </a:p>
        </p:txBody>
      </p:sp>
      <p:sp>
        <p:nvSpPr>
          <p:cNvPr id="27" name="Text 22">
            <a:hlinkClick r:id="rId6" tooltip=""/>
          </p:cNvPr>
          <p:cNvSpPr/>
          <p:nvPr/>
        </p:nvSpPr>
        <p:spPr>
          <a:xfrm>
            <a:off x="8247888" y="4965192"/>
            <a:ext cx="2843784" cy="457200"/>
          </a:xfrm>
          <a:prstGeom prst="rect">
            <a:avLst/>
          </a:prstGeom>
          <a:noFill/>
          <a:ln/>
        </p:spPr>
        <p:txBody>
          <a:bodyPr wrap="square" lIns="0" tIns="0" rIns="0" bIns="0" rtlCol="0" anchor="t"/>
          <a:lstStyle/>
          <a:p>
            <a:pPr indent="0" marL="0">
              <a:buNone/>
            </a:pPr>
            <a:r>
              <a:rPr lang="en-US" sz="1400" u="sng" dirty="0">
                <a:solidFill>
                  <a:srgbClr val="00684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https://learn.mongodb.com/courses/connecting-to-mongodb-in-nodejs</a:t>
            </a:r>
            <a:endParaRPr lang="en-US" sz="1400" dirty="0"/>
          </a:p>
        </p:txBody>
      </p:sp>
      <p:sp>
        <p:nvSpPr>
          <p:cNvPr id="28" name="Text 23"/>
          <p:cNvSpPr/>
          <p:nvPr/>
        </p:nvSpPr>
        <p:spPr>
          <a:xfrm>
            <a:off x="822960" y="5669280"/>
            <a:ext cx="10543032" cy="365760"/>
          </a:xfrm>
          <a:prstGeom prst="rect">
            <a:avLst/>
          </a:prstGeom>
          <a:noFill/>
          <a:ln/>
        </p:spPr>
        <p:txBody>
          <a:bodyPr wrap="square" lIns="0" tIns="0" rIns="0" bIns="0" rtlCol="0" anchor="t"/>
          <a:lstStyle/>
          <a:p>
            <a:pPr indent="0" marL="0">
              <a:buNone/>
            </a:pPr>
            <a:r>
              <a:rPr lang="en-US" sz="1600" i="1" dirty="0">
                <a:solidFill>
                  <a:srgbClr val="5C6C75"/>
                </a:solidFill>
                <a:latin typeface="Calibri" pitchFamily="34" charset="0"/>
                <a:ea typeface="Calibri" pitchFamily="34" charset="-122"/>
                <a:cs typeface="Calibri" pitchFamily="34" charset="-120"/>
              </a:rPr>
              <a:t>Límites del plan M0 tomados de mongodb.com/pricing, consultado el 21 de octubre de 2026.</a:t>
            </a:r>
            <a:endParaRPr lang="en-US" sz="1600" dirty="0"/>
          </a:p>
        </p:txBody>
      </p:sp>
      <p:sp>
        <p:nvSpPr>
          <p:cNvPr id="29" name="Text 24"/>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5C6C75"/>
                </a:solidFill>
                <a:latin typeface="Arial Narrow" pitchFamily="34" charset="0"/>
                <a:ea typeface="Arial Narrow" pitchFamily="34" charset="-122"/>
                <a:cs typeface="Arial Narrow" pitchFamily="34" charset="-120"/>
              </a:rPr>
              <a:t>11 / 12</a:t>
            </a:r>
            <a:endParaRPr lang="en-US" sz="1300" dirty="0"/>
          </a:p>
        </p:txBody>
      </p:sp>
      <p:sp>
        <p:nvSpPr>
          <p:cNvPr id="30" name="Text 25"/>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5C6C75"/>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E2B"/>
        </a:solidFill>
      </p:bgPr>
    </p:bg>
    <p:spTree>
      <p:nvGrpSpPr>
        <p:cNvPr id="1" name=""/>
        <p:cNvGrpSpPr/>
        <p:nvPr/>
      </p:nvGrpSpPr>
      <p:grpSpPr>
        <a:xfrm>
          <a:off x="0" y="0"/>
          <a:ext cx="0" cy="0"/>
          <a:chOff x="0" y="0"/>
          <a:chExt cx="0" cy="0"/>
        </a:xfrm>
      </p:grpSpPr>
      <p:pic>
        <p:nvPicPr>
          <p:cNvPr id="2" name="Image 0" descr="brace_dark.png">    </p:cNvPr>
          <p:cNvPicPr>
            <a:picLocks noChangeAspect="1"/>
          </p:cNvPicPr>
          <p:nvPr/>
        </p:nvPicPr>
        <p:blipFill>
          <a:blip r:embed="rId1"/>
          <a:stretch>
            <a:fillRect/>
          </a:stretch>
        </p:blipFill>
        <p:spPr>
          <a:xfrm>
            <a:off x="1293876" y="502920"/>
            <a:ext cx="9601200" cy="5280660"/>
          </a:xfrm>
          <a:prstGeom prst="rect">
            <a:avLst/>
          </a:prstGeom>
        </p:spPr>
      </p:pic>
      <p:sp>
        <p:nvSpPr>
          <p:cNvPr id="3" name="Text 0"/>
          <p:cNvSpPr/>
          <p:nvPr/>
        </p:nvSpPr>
        <p:spPr>
          <a:xfrm>
            <a:off x="0" y="1737360"/>
            <a:ext cx="12188952" cy="1417320"/>
          </a:xfrm>
          <a:prstGeom prst="rect">
            <a:avLst/>
          </a:prstGeom>
          <a:noFill/>
          <a:ln/>
        </p:spPr>
        <p:txBody>
          <a:bodyPr wrap="square" lIns="0" tIns="0" rIns="0" bIns="0" rtlCol="0" anchor="ctr"/>
          <a:lstStyle/>
          <a:p>
            <a:pPr algn="ctr" indent="0" marL="0">
              <a:buNone/>
            </a:pPr>
            <a:r>
              <a:rPr lang="en-US" sz="9600" b="1" dirty="0">
                <a:solidFill>
                  <a:srgbClr val="FFFFFF"/>
                </a:solidFill>
                <a:latin typeface="Arial Narrow" pitchFamily="34" charset="0"/>
                <a:ea typeface="Arial Narrow" pitchFamily="34" charset="-122"/>
                <a:cs typeface="Arial Narrow" pitchFamily="34" charset="-120"/>
              </a:rPr>
              <a:t>¿PREGUNTAS?</a:t>
            </a:r>
            <a:endParaRPr lang="en-US" sz="9600" dirty="0"/>
          </a:p>
        </p:txBody>
      </p:sp>
      <p:sp>
        <p:nvSpPr>
          <p:cNvPr id="4" name="Shape 1"/>
          <p:cNvSpPr/>
          <p:nvPr/>
        </p:nvSpPr>
        <p:spPr>
          <a:xfrm>
            <a:off x="5820156" y="3337560"/>
            <a:ext cx="548640" cy="54864"/>
          </a:xfrm>
          <a:prstGeom prst="rect">
            <a:avLst/>
          </a:prstGeom>
          <a:solidFill>
            <a:srgbClr val="00ED64"/>
          </a:solidFill>
          <a:ln/>
        </p:spPr>
      </p:sp>
      <p:sp>
        <p:nvSpPr>
          <p:cNvPr id="5" name="Text 2"/>
          <p:cNvSpPr/>
          <p:nvPr/>
        </p:nvSpPr>
        <p:spPr>
          <a:xfrm>
            <a:off x="0" y="3611880"/>
            <a:ext cx="12188952" cy="502920"/>
          </a:xfrm>
          <a:prstGeom prst="rect">
            <a:avLst/>
          </a:prstGeom>
          <a:noFill/>
          <a:ln/>
        </p:spPr>
        <p:txBody>
          <a:bodyPr wrap="square" lIns="0" tIns="0" rIns="0" bIns="0" rtlCol="0" anchor="t"/>
          <a:lstStyle/>
          <a:p>
            <a:pPr algn="ctr" indent="0" marL="0">
              <a:buNone/>
            </a:pPr>
            <a:r>
              <a:rPr lang="en-US" sz="2600" dirty="0">
                <a:solidFill>
                  <a:srgbClr val="B8D4CC"/>
                </a:solidFill>
                <a:latin typeface="Calibri" pitchFamily="34" charset="0"/>
                <a:ea typeface="Calibri" pitchFamily="34" charset="-122"/>
                <a:cs typeface="Calibri" pitchFamily="34" charset="-120"/>
              </a:rPr>
              <a:t>Guardar los datos con la forma en que la API los lee.</a:t>
            </a:r>
            <a:endParaRPr lang="en-US" sz="2600" dirty="0"/>
          </a:p>
        </p:txBody>
      </p:sp>
      <p:sp>
        <p:nvSpPr>
          <p:cNvPr id="6" name="Text 3"/>
          <p:cNvSpPr/>
          <p:nvPr/>
        </p:nvSpPr>
        <p:spPr>
          <a:xfrm>
            <a:off x="0" y="5257800"/>
            <a:ext cx="12188952" cy="365760"/>
          </a:xfrm>
          <a:prstGeom prst="rect">
            <a:avLst/>
          </a:prstGeom>
          <a:noFill/>
          <a:ln/>
        </p:spPr>
        <p:txBody>
          <a:bodyPr wrap="square" lIns="0" tIns="0" rIns="0" bIns="0" rtlCol="0" anchor="t"/>
          <a:lstStyle/>
          <a:p>
            <a:pPr algn="ctr" indent="0" marL="0">
              <a:buNone/>
            </a:pPr>
            <a:r>
              <a:rPr lang="en-US" sz="1800" dirty="0">
                <a:solidFill>
                  <a:srgbClr val="7FA39A"/>
                </a:solidFill>
                <a:latin typeface="Calibri" pitchFamily="34" charset="0"/>
                <a:ea typeface="Calibri" pitchFamily="34" charset="-122"/>
                <a:cs typeface="Calibri" pitchFamily="34" charset="-120"/>
              </a:rPr>
              <a:t>Slides y reporte en el repositorio de GitHub del equipo</a:t>
            </a:r>
            <a:endParaRPr lang="en-US" sz="1800" dirty="0"/>
          </a:p>
        </p:txBody>
      </p:sp>
      <p:sp>
        <p:nvSpPr>
          <p:cNvPr id="7" name="Text 4"/>
          <p:cNvSpPr/>
          <p:nvPr/>
        </p:nvSpPr>
        <p:spPr>
          <a:xfrm>
            <a:off x="822960" y="6382512"/>
            <a:ext cx="1828800" cy="274320"/>
          </a:xfrm>
          <a:prstGeom prst="rect">
            <a:avLst/>
          </a:prstGeom>
          <a:noFill/>
          <a:ln/>
        </p:spPr>
        <p:txBody>
          <a:bodyPr wrap="square" lIns="0" tIns="0" rIns="0" bIns="0" rtlCol="0" anchor="t"/>
          <a:lstStyle/>
          <a:p>
            <a:pPr indent="0" marL="0">
              <a:buNone/>
            </a:pPr>
            <a:r>
              <a:rPr lang="en-US" sz="1300" b="1" dirty="0">
                <a:solidFill>
                  <a:srgbClr val="7FA39A"/>
                </a:solidFill>
                <a:latin typeface="Arial Narrow" pitchFamily="34" charset="0"/>
                <a:ea typeface="Arial Narrow" pitchFamily="34" charset="-122"/>
                <a:cs typeface="Arial Narrow" pitchFamily="34" charset="-120"/>
              </a:rPr>
              <a:t>12 / 12</a:t>
            </a:r>
            <a:endParaRPr lang="en-US" sz="1300" dirty="0"/>
          </a:p>
        </p:txBody>
      </p:sp>
      <p:sp>
        <p:nvSpPr>
          <p:cNvPr id="8" name="Text 5"/>
          <p:cNvSpPr/>
          <p:nvPr/>
        </p:nvSpPr>
        <p:spPr>
          <a:xfrm>
            <a:off x="7708392" y="6382512"/>
            <a:ext cx="3657600" cy="274320"/>
          </a:xfrm>
          <a:prstGeom prst="rect">
            <a:avLst/>
          </a:prstGeom>
          <a:noFill/>
          <a:ln/>
        </p:spPr>
        <p:txBody>
          <a:bodyPr wrap="square" lIns="0" tIns="0" rIns="0" bIns="0" rtlCol="0" anchor="t"/>
          <a:lstStyle/>
          <a:p>
            <a:pPr algn="r" indent="0" marL="0">
              <a:buNone/>
            </a:pPr>
            <a:r>
              <a:rPr lang="en-US" sz="1300" b="1" dirty="0">
                <a:solidFill>
                  <a:srgbClr val="7FA39A"/>
                </a:solidFill>
                <a:latin typeface="Arial Narrow" pitchFamily="34" charset="0"/>
                <a:ea typeface="Arial Narrow" pitchFamily="34" charset="-122"/>
                <a:cs typeface="Arial Narrow" pitchFamily="34" charset="-120"/>
              </a:rPr>
              <a:t>EQUIPO 5 · MONGODB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Equipo 5 · MongoDB</dc:title>
  <dc:subject>PptxGenJS Presentation</dc:subject>
  <dc:creator>PptxGenJS</dc:creator>
  <cp:lastModifiedBy>PptxGenJS</cp:lastModifiedBy>
  <cp:revision>1</cp:revision>
  <dcterms:created xsi:type="dcterms:W3CDTF">2026-10-21T22:23:54Z</dcterms:created>
  <dcterms:modified xsi:type="dcterms:W3CDTF">2026-10-21T22:23:54Z</dcterms:modified>
</cp:coreProperties>
</file>